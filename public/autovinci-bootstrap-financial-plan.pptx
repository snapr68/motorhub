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813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615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9436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118872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178308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37744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297180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356616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16052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75488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34924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594360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53796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50292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11887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CFO FINANCIAL MODEL  ·  BOOTSTRAP EDITION  ·  FEB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0" y="1600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spc="30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AUTOVINCI</a:t>
            </a:r>
            <a:endParaRPr lang="en-US" sz="10000" dirty="0"/>
          </a:p>
        </p:txBody>
      </p:sp>
      <p:sp>
        <p:nvSpPr>
          <p:cNvPr id="36" name="Text 34"/>
          <p:cNvSpPr/>
          <p:nvPr/>
        </p:nvSpPr>
        <p:spPr>
          <a:xfrm>
            <a:off x="0" y="2834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 CR BOOTSTRAP FINANCIAL PLAN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371600" y="356616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build to ₹15 Cr ARR, prove the model, and raise Series A — with only ₹2 Cr in the bank.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206240"/>
            <a:ext cx="11457432" cy="77724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4206240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2793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 CAPITAL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8640" y="4480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₹2,00,00,000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029200" y="42793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E8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EXTERNAL FUNDING AT START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0" y="44805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must work. No waste. Revenue before runway.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5138928"/>
            <a:ext cx="2834640" cy="9144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5138928"/>
            <a:ext cx="283464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52120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 mo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365760" y="57058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Runway @ Zero Revenue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328416" y="5138928"/>
            <a:ext cx="2834640" cy="9144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28416" y="5138928"/>
            <a:ext cx="283464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0" name="Text 48"/>
          <p:cNvSpPr/>
          <p:nvPr/>
        </p:nvSpPr>
        <p:spPr>
          <a:xfrm>
            <a:off x="3328416" y="52120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7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3328416" y="57058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Revenue Target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91072" y="5138928"/>
            <a:ext cx="2834640" cy="9144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91072" y="5138928"/>
            <a:ext cx="283464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4" name="Text 52"/>
          <p:cNvSpPr/>
          <p:nvPr/>
        </p:nvSpPr>
        <p:spPr>
          <a:xfrm>
            <a:off x="6291072" y="52120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14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6291072" y="57058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Cash-Flow Positive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9253728" y="5138928"/>
            <a:ext cx="2834640" cy="9144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53728" y="5138928"/>
            <a:ext cx="283464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8" name="Text 56"/>
          <p:cNvSpPr/>
          <p:nvPr/>
        </p:nvSpPr>
        <p:spPr>
          <a:xfrm>
            <a:off x="9253728" y="52120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₹15 Cr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9253728" y="57058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at Seed Raise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—  CFO REALITY CHECK  ·  ₹2 CR IS ENOUGH IF USED RIGHT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BRUTAL TRUTH ABOUT ₹2 CR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5669280" cy="475488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5669280" cy="32004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45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₹2 Cr CAN 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2057400"/>
            <a:ext cx="5449824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2130552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runway for a 4-person founding team at ₹1.5L/mo salaries each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" y="2587752"/>
            <a:ext cx="5449824" cy="457200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2660904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tech stack already built — ₹0 on platform development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3118104"/>
            <a:ext cx="5449824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09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3191256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Supabase costs ₹15K/mo max at current scale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" y="3648456"/>
            <a:ext cx="5449824" cy="457200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3721608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200 dealers on DealerOS free tier (zero acquisition cost)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" y="4178808"/>
            <a:ext cx="5449824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270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4251960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 MVP with manual + OBD data pipeline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" y="4709160"/>
            <a:ext cx="5449824" cy="457200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" y="4782312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5 B2B data pilot contracts at ₹50K/mo proof-of-concept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" y="5239512"/>
            <a:ext cx="5449824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330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5312664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machine: 160K pages already generating organic traffic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" y="5769864"/>
            <a:ext cx="5449824" cy="457200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5861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" y="5843016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₹15 Cr ARR before needing external capital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09360" y="1572768"/>
            <a:ext cx="5669280" cy="475488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1572768"/>
            <a:ext cx="5669280" cy="32004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1645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₹2 Cr CANNOT do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19088" y="2057400"/>
            <a:ext cx="5449824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84848" y="2130552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hire a 30-person team — maximum 6 FTEs total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19088" y="2587752"/>
            <a:ext cx="5449824" cy="457200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84848" y="2660904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run paid ads at scale — must be 100% organic/referral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19088" y="3118104"/>
            <a:ext cx="5449824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209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84848" y="3191256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build mobile app in Year 1 — defer to post-raise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19088" y="3648456"/>
            <a:ext cx="5449824" cy="457200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3952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84848" y="3721608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open physical inspection centres — marketplace model only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19088" y="4178808"/>
            <a:ext cx="5449824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4270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84848" y="4251960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pursue all 10 features simultaneously — 3 features max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19088" y="4709160"/>
            <a:ext cx="5449824" cy="457200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84848" y="4782312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afford enterprise sales cycles &gt;60 days — cut them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19088" y="5239512"/>
            <a:ext cx="5449824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3952" y="5330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84848" y="5312664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survive more than 14 months of zero revenue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19088" y="5769864"/>
            <a:ext cx="5449824" cy="457200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3952" y="5861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784848" y="5843016"/>
            <a:ext cx="5010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take a "build it and they will come" approach — revenue day 1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—  CAPITAL ALLOCATION  ·  HOW EVERY RUPEE IS DEPLOYED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 CR DEPLOYMENT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1457432" cy="896112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01952"/>
            <a:ext cx="2011680" cy="201168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01952"/>
            <a:ext cx="110642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276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55% · ₹1,10,00,000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51760" y="1627632"/>
            <a:ext cx="3017520" cy="74980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6642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CTO / Lead Engineer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0" y="18836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₹2.5L/mo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0" y="20848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₹30L for 12 months — non-negotiable, most critical hire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806440" y="1627632"/>
            <a:ext cx="3017520" cy="74980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6642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/ Business Dev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18836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₹1.5L/mo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97880" y="20848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₹18L for 12 months — dealer acquisition, B2B sales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961120" y="1627632"/>
            <a:ext cx="3017520" cy="74980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16642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 (1)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52560" y="18836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₹1.8L/mo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052560" y="20848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₹21.6L for 12 months — product build + maintenance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2523744"/>
            <a:ext cx="11457432" cy="896112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523744"/>
            <a:ext cx="11457432" cy="3200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871216"/>
            <a:ext cx="2011680" cy="201168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2871216"/>
            <a:ext cx="362102" cy="201168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5968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&amp; TECH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1181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18% · ₹36,00,000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51760" y="2596896"/>
            <a:ext cx="3017520" cy="74980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6334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/ Supabase / AWS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43200" y="28529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8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₹15K/mo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0" y="305409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₹1.8L/yr — serverless keeps this near zero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806440" y="2596896"/>
            <a:ext cx="3017520" cy="74980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6334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Parivahan API integration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97880" y="28529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8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₹4L one-time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97880" y="305409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API — one integration, perpetual value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961120" y="2596896"/>
            <a:ext cx="3017520" cy="74980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26334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OBD-II device inventory (50 units)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052560" y="28529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8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₹6L one-time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052560" y="305409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₹1,200/unit — mechanic partner kit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5760" y="3493008"/>
            <a:ext cx="11457432" cy="896112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493008"/>
            <a:ext cx="11457432" cy="3200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840480"/>
            <a:ext cx="2011680" cy="201168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3840480"/>
            <a:ext cx="301752" cy="201168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&amp; MARKETING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0873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 · ₹30,00,000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651760" y="3566160"/>
            <a:ext cx="3017520" cy="74980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0" y="360273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acquisition (field ops)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743200" y="38221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₹8L total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43200" y="402336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field reps in Mumbai + Delhi, 3-month trial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806440" y="3566160"/>
            <a:ext cx="3017520" cy="74980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97880" y="360273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content production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97880" y="38221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₹6L total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897880" y="402336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new programmatic pages, 20 editorial pieces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961120" y="3566160"/>
            <a:ext cx="3017520" cy="74980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52560" y="360273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 API + CRM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052560" y="38221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₹1.5L/yr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052560" y="402336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dealer communication channel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5760" y="4462272"/>
            <a:ext cx="11457432" cy="896112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4462272"/>
            <a:ext cx="11457432" cy="32004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62" name="Shape 60"/>
          <p:cNvSpPr/>
          <p:nvPr/>
        </p:nvSpPr>
        <p:spPr>
          <a:xfrm>
            <a:off x="457200" y="4809744"/>
            <a:ext cx="2011680" cy="201168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63" name="Shape 61"/>
          <p:cNvSpPr/>
          <p:nvPr/>
        </p:nvSpPr>
        <p:spPr>
          <a:xfrm>
            <a:off x="457200" y="4809744"/>
            <a:ext cx="140818" cy="201168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5354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7200" y="50566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7% · ₹14,00,000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651760" y="4535424"/>
            <a:ext cx="3017520" cy="74980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0" y="45720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incorporation + structuring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743200" y="47914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₹1.5L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743200" y="49926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Ltd, ESOP pool, co-founder agreements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806440" y="4535424"/>
            <a:ext cx="3017520" cy="74980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97880" y="45720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retainer (12 months)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897880" y="47914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₹3L total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897880" y="49926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B2B agreements, dealer T&amp;Cs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961120" y="4535424"/>
            <a:ext cx="3017520" cy="74980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52560" y="45720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agent network agreements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052560" y="47914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₹2L total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052560" y="49926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 with 50 RTO agents across 5 cities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65760" y="5431536"/>
            <a:ext cx="11457432" cy="896112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5760" y="5431536"/>
            <a:ext cx="11457432" cy="32004"/>
          </a:xfrm>
          <a:prstGeom prst="rect">
            <a:avLst/>
          </a:prstGeom>
          <a:solidFill>
            <a:srgbClr val="9B6DD4"/>
          </a:solidFill>
          <a:ln/>
        </p:spPr>
      </p:sp>
      <p:sp>
        <p:nvSpPr>
          <p:cNvPr id="80" name="Shape 78"/>
          <p:cNvSpPr/>
          <p:nvPr/>
        </p:nvSpPr>
        <p:spPr>
          <a:xfrm>
            <a:off x="457200" y="5779008"/>
            <a:ext cx="2011680" cy="201168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81" name="Shape 79"/>
          <p:cNvSpPr/>
          <p:nvPr/>
        </p:nvSpPr>
        <p:spPr>
          <a:xfrm>
            <a:off x="457200" y="5779008"/>
            <a:ext cx="100584" cy="201168"/>
          </a:xfrm>
          <a:prstGeom prst="rect">
            <a:avLst/>
          </a:prstGeom>
          <a:solidFill>
            <a:srgbClr val="9B6DD4"/>
          </a:solidFill>
          <a:ln/>
        </p:spPr>
      </p:sp>
      <p:sp>
        <p:nvSpPr>
          <p:cNvPr id="82" name="Text 80"/>
          <p:cNvSpPr/>
          <p:nvPr/>
        </p:nvSpPr>
        <p:spPr>
          <a:xfrm>
            <a:off x="457200" y="55046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RESERVE / CONTINGENCY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57200" y="60258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 · ₹10,00,000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651760" y="5504688"/>
            <a:ext cx="3017520" cy="74980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0" y="55412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runway buffer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2743200" y="5760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6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₹10L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2743200" y="596188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salary buffer if revenue delayed — non-negotiable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5806440" y="5504688"/>
            <a:ext cx="3017520" cy="74980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97880" y="55412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fund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897880" y="5760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6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₹0 allocated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897880" y="596188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Reallocated from other buckets if strategic deal arrives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14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—  MONTH-BY-MONTH EXECUTION  ·  YEAR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12-MONTH OPERATIONAL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3794760" cy="22860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3794760" cy="3200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664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66420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4A8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" y="1993392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2996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Hire CTO + 1 engineer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" y="2340864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7744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Parivahan API integration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" y="2688336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2491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DealerOS free tier live in 3 cities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" y="3035808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7238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RTO agent agreements (Mumbai, Delhi, Bangalore)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" y="3474720"/>
            <a:ext cx="3575304" cy="29260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5112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Rev: ₹0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64208" y="35112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Burn: ₹14L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61488" y="351129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Cash: ₹186L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315968" y="1572768"/>
            <a:ext cx="3794760" cy="22860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15968" y="1572768"/>
            <a:ext cx="3794760" cy="3200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24" name="Text 22"/>
          <p:cNvSpPr/>
          <p:nvPr/>
        </p:nvSpPr>
        <p:spPr>
          <a:xfrm>
            <a:off x="4425696" y="1664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3–4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24728" y="166420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2A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REVENUE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25696" y="1993392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48" y="202996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200 dealers on DealerOS free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425696" y="2340864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237744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Launch VehiclePassport (manual data)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425696" y="2688336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8848" y="272491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First 3 B2B pilot contracts @ ₹50K/mo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25696" y="3035808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8848" y="307238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Referral program live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25696" y="3474720"/>
            <a:ext cx="3575304" cy="29260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35112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Rev: ₹15L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14416" y="35112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Burn: ₹14L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11696" y="351129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Cash: ₹187L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266176" y="1572768"/>
            <a:ext cx="3794760" cy="22860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66176" y="1572768"/>
            <a:ext cx="379476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0" name="Text 38"/>
          <p:cNvSpPr/>
          <p:nvPr/>
        </p:nvSpPr>
        <p:spPr>
          <a:xfrm>
            <a:off x="8375904" y="1664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5–6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774936" y="166420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 MODEL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75904" y="1993392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49056" y="202996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500 dealers onboarded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375904" y="2340864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49056" y="237744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DealerOS paid tier launch (₹999 Growth)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375904" y="2688336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49056" y="272491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100 VehiclePassports sold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375904" y="3035808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49056" y="307238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LiveCondition pilot (20 mechanics)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375904" y="3474720"/>
            <a:ext cx="3575304" cy="29260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51" name="Text 49"/>
          <p:cNvSpPr/>
          <p:nvPr/>
        </p:nvSpPr>
        <p:spPr>
          <a:xfrm>
            <a:off x="8430768" y="35112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Rev: ₹55L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564624" y="35112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Burn: ₹14L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661904" y="351129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Cash: ₹228L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3968496"/>
            <a:ext cx="3794760" cy="22860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3968496"/>
            <a:ext cx="379476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" y="4059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7–8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874520" y="40599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5488" y="4389120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442569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1,000 dealers, 15% paid conversion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75488" y="4736592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77316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B2B contracts: 8 signed, ₹4L MRR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75488" y="5084064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12064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VehiclePassport: 300/mo @ ₹499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5488" y="5431536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46811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Raise angel bridge if needed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75488" y="5870448"/>
            <a:ext cx="3575304" cy="29260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67" name="Text 65"/>
          <p:cNvSpPr/>
          <p:nvPr/>
        </p:nvSpPr>
        <p:spPr>
          <a:xfrm>
            <a:off x="530352" y="59070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Rev: ₹1.2 Cr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664208" y="59070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Burn: ₹16L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761488" y="590702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Cash: ₹2.12 Cr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15968" y="3968496"/>
            <a:ext cx="3794760" cy="22860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15968" y="3968496"/>
            <a:ext cx="3794760" cy="32004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72" name="Text 70"/>
          <p:cNvSpPr/>
          <p:nvPr/>
        </p:nvSpPr>
        <p:spPr>
          <a:xfrm>
            <a:off x="4425696" y="4059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9–10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824728" y="40599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MOMENTUM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425696" y="4389120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98848" y="442569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2,000 dealers, 20% paid (400 paying)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425696" y="4736592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98848" y="477316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DealerOS Pro tier launch @ ₹2,999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425696" y="5084064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98848" y="512064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B2B: 15 contracts, ₹7.5L MRR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425696" y="5431536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98848" y="546811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Seed deck ready, investor meetings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425696" y="5870448"/>
            <a:ext cx="3575304" cy="29260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83" name="Text 81"/>
          <p:cNvSpPr/>
          <p:nvPr/>
        </p:nvSpPr>
        <p:spPr>
          <a:xfrm>
            <a:off x="4480560" y="59070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Rev: ₹2.4 Cr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614416" y="59070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Burn: ₹18L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711696" y="590702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Cash: ₹2.46 Cr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266176" y="3968496"/>
            <a:ext cx="3794760" cy="22860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266176" y="3968496"/>
            <a:ext cx="3794760" cy="32004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88" name="Text 86"/>
          <p:cNvSpPr/>
          <p:nvPr/>
        </p:nvSpPr>
        <p:spPr>
          <a:xfrm>
            <a:off x="8375904" y="4059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 11–12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9774936" y="40599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RAISE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8375904" y="4389120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449056" y="442569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3,500 dealers, 25% paid (875 paying)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8375904" y="4736592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449056" y="477316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₹15 Cr ARR run rate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375904" y="5084064"/>
            <a:ext cx="3575304" cy="310896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449056" y="512064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20 B2B contracts, ₹10L MRR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8375904" y="5431536"/>
            <a:ext cx="3575304" cy="310896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449056" y="546811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CLOSE SEED ROUND ₹20–25 Cr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8375904" y="5870448"/>
            <a:ext cx="3575304" cy="29260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99" name="Text 97"/>
          <p:cNvSpPr/>
          <p:nvPr/>
        </p:nvSpPr>
        <p:spPr>
          <a:xfrm>
            <a:off x="8430768" y="59070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Rev: ₹4.2 Cr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9564624" y="59070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Burn: ₹20L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10661904" y="590702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Cash: ₹2.8 Cr → ₹25 Cr post-raise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14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—  CASH FLOW  ·  MONTH-BY-MONTH SURVIVAL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NEVER HIT ZERO: THE CASH MAP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1457432" cy="33832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83664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636776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792224" y="1636776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072384" y="1636776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BURN RATE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52544" y="1636776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CASH FLOW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9864" y="1636776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CASH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232904" y="1636776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RUNWAY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513064" y="1636776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1457432" cy="33832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975104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92224" y="1975104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72384" y="1975104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52544" y="1975104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(₹14L)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769864" y="1975104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₹186L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32904" y="1975104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 mo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13064" y="1975104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249424"/>
            <a:ext cx="11457432" cy="33832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313432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92224" y="2313432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72384" y="2313432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52544" y="2313432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(₹14L)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9864" y="2313432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₹172L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32904" y="2313432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mo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513064" y="2313432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2587752"/>
            <a:ext cx="11457432" cy="33832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2651760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92224" y="2651760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072384" y="2651760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52544" y="2651760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(₹9L)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769864" y="2651760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₹163L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32904" y="2651760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mo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13064" y="2651760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revenue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2926080"/>
            <a:ext cx="11457432" cy="33832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2990088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792224" y="299008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072384" y="299008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352544" y="2990088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(₹4L)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769864" y="2990088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₹159L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232904" y="299008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 mo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513064" y="2990088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264408"/>
            <a:ext cx="11457432" cy="33832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" y="3328416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792224" y="3328416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72384" y="3328416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₹14L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352544" y="3328416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769864" y="3328416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₹165L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232904" y="3328416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mo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513064" y="3328416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positive mo!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3602736"/>
            <a:ext cx="11457432" cy="33832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" y="3666744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792224" y="3666744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072384" y="3666744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352544" y="3666744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769864" y="3666744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₹186L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232904" y="3666744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 mo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513064" y="3666744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65760" y="3941064"/>
            <a:ext cx="11457432" cy="33832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0624" y="4005072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7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792224" y="4005072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₹55L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072384" y="4005072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₹16L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352544" y="4005072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₹39L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769864" y="4005072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₹225L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232904" y="4005072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 mo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513064" y="4005072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paid live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65760" y="4279392"/>
            <a:ext cx="11457432" cy="33832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0624" y="4343400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792224" y="4343400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₹65L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072384" y="4343400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₹16L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352544" y="4343400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₹49L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769864" y="4343400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₹274L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232904" y="4343400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 mo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513064" y="4343400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65760" y="4617720"/>
            <a:ext cx="11457432" cy="33832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624" y="4681728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9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792224" y="468172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₹90L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3072384" y="468172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₹18L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352544" y="4681728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₹72L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769864" y="4681728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₹346L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232904" y="468172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 mo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513064" y="4681728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kicking in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65760" y="4956048"/>
            <a:ext cx="11457432" cy="33832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0624" y="5020056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10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1792224" y="5020056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₹1.1 Cr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072384" y="5020056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₹18L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352544" y="5020056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₹92L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769864" y="5020056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₹438L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232904" y="5020056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 mo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8513064" y="5020056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Self-sustaining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65760" y="5294376"/>
            <a:ext cx="11457432" cy="33832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0624" y="5358384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11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792224" y="5358384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 Cr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3072384" y="5358384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₹20L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4352544" y="5358384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₹1.2 Cr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5769864" y="5358384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₹558L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232904" y="5358384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 mo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513064" y="5358384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deck ready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365760" y="5632704"/>
            <a:ext cx="11457432" cy="33832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20624" y="5696712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1792224" y="5696712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₹1.8 Cr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3072384" y="5696712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₹20L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4352544" y="5696712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₹1.6 Cr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5769864" y="5696712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₹718L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7232904" y="5696712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8513064" y="5696712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SEED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65760" y="5971032"/>
            <a:ext cx="11457432" cy="33832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20624" y="6035040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Y1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1792224" y="6035040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₹7.3 Cr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3072384" y="6035040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₹1.92 Cr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4352544" y="6035040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₹5.38 Cr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5769864" y="6035040"/>
            <a:ext cx="1353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₹7.18 Cr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7232904" y="6035040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8513064" y="6035040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Cash-positive from Mo 5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365760" y="5971032"/>
            <a:ext cx="11457432" cy="338328"/>
          </a:xfrm>
          <a:prstGeom prst="rect">
            <a:avLst/>
          </a:prstGeom>
          <a:solidFill>
            <a:srgbClr val="1A150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5760" y="5971032"/>
            <a:ext cx="11457432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1" name="Shape 119"/>
          <p:cNvSpPr/>
          <p:nvPr/>
        </p:nvSpPr>
        <p:spPr>
          <a:xfrm>
            <a:off x="365760" y="3264408"/>
            <a:ext cx="11457432" cy="338328"/>
          </a:xfrm>
          <a:prstGeom prst="rect">
            <a:avLst/>
          </a:prstGeom>
          <a:solidFill>
            <a:srgbClr val="0A1A0A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65760" y="6144768"/>
            <a:ext cx="11457432" cy="530352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65760" y="6144768"/>
            <a:ext cx="11457432" cy="32004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124" name="Text 122"/>
          <p:cNvSpPr/>
          <p:nvPr/>
        </p:nvSpPr>
        <p:spPr>
          <a:xfrm>
            <a:off x="502920" y="6199632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CFO INSIGHT: With disciplined burn of ₹14–20L/mo, ₹2 Cr gives us 14 months zero-revenue runway. But we hit revenue by Month 3 and cash-flow positive by Month 5. By Month 12, cash balance is ₹7.18 Cr — 3.6x our starting capital. We raise from strength, not desperation.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14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—  REVENUE MODEL  ·  BOOTSTRAP SEQUENCE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REVENUE STREAMS. IN THIS EXACT ORDER.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₹2 Cr, we cannot pursue all 5 streams simultaneously. The CFO rule: launch streams in order of lowest CAC + fastest payback. We start where cost-to-revenue is closest to zero.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1457432" cy="14173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011680"/>
            <a:ext cx="1371600" cy="141732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7249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 74%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2084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DealerOS SaaS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432304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already built. Zero marginal cost to onboard dealers. Free tier creates instant supply-side lock-in. Paid tier conversion starts Month 5.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20240" y="309067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Month 12: 875 paying dealers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537960" y="2121408"/>
            <a:ext cx="1755648" cy="1170432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2121408"/>
            <a:ext cx="1755648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176272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2432304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₹0/mo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11112" y="2798064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— lead gen + lock-in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412480" y="2121408"/>
            <a:ext cx="1755648" cy="1170432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2121408"/>
            <a:ext cx="1755648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176272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2432304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₹999/mo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85632" y="2798064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10–50 listings, analytics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0287000" y="2121408"/>
            <a:ext cx="1755648" cy="1170432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87000" y="2121408"/>
            <a:ext cx="1755648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10287000" y="2176272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87000" y="2432304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₹2,999/mo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360152" y="2798064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Unlimited, AI, priority support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835640" y="20848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Y1: ₹3.8 Cr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3547872"/>
            <a:ext cx="11457432" cy="14173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547872"/>
            <a:ext cx="11457432" cy="3200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3547872"/>
            <a:ext cx="1371600" cy="141732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776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SECOND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" y="4261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45537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 82%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0240" y="36210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Data (DemandPulse Pilots)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920240" y="3968496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bank/insurer pilots at ₹50K/mo each = ₹2.5L MRR from day one. Sales cycle 30 days for pilots. No product build needed — data already flowing.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920240" y="462686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8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Month 12: 20 contracts @ ₹5L avg ACV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37960" y="3657600"/>
            <a:ext cx="1755648" cy="1170432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3657600"/>
            <a:ext cx="1755648" cy="3200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3712464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37960" y="3968496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₹50K/mo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611112" y="43342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PoC, limited data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412480" y="3657600"/>
            <a:ext cx="1755648" cy="1170432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12480" y="3657600"/>
            <a:ext cx="1755648" cy="3200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0" y="3712464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12480" y="3968496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₹3L/yr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485632" y="43342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pricing API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0287000" y="3657600"/>
            <a:ext cx="1755648" cy="1170432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87000" y="3657600"/>
            <a:ext cx="1755648" cy="3200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53" name="Text 51"/>
          <p:cNvSpPr/>
          <p:nvPr/>
        </p:nvSpPr>
        <p:spPr>
          <a:xfrm>
            <a:off x="10287000" y="3712464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287000" y="3968496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₹10L+/yr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0360152" y="43342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Custom, white-label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0835640" y="362102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Y1: ₹1.8 Cr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65760" y="5084064"/>
            <a:ext cx="11457432" cy="14173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5084064"/>
            <a:ext cx="11457432" cy="3200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59" name="Shape 57"/>
          <p:cNvSpPr/>
          <p:nvPr/>
        </p:nvSpPr>
        <p:spPr>
          <a:xfrm>
            <a:off x="365760" y="5084064"/>
            <a:ext cx="1371600" cy="141732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53126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THIRD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365760" y="57972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65760" y="60899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 71%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920240" y="5157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VehiclePassport Reports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920240" y="550468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Parivahan integration (Month 3–4 build). Once live, pure transaction revenue. No marginal cost. Attach rate grows with dealer network.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920240" y="6163056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Month 12: 500 reports/month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537960" y="5193792"/>
            <a:ext cx="1755648" cy="1170432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37960" y="5193792"/>
            <a:ext cx="1755648" cy="3200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68" name="Text 66"/>
          <p:cNvSpPr/>
          <p:nvPr/>
        </p:nvSpPr>
        <p:spPr>
          <a:xfrm>
            <a:off x="6537960" y="5248656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Basic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537960" y="5504688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₹299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6611112" y="587044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+ reg data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412480" y="5193792"/>
            <a:ext cx="1755648" cy="1170432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12480" y="5193792"/>
            <a:ext cx="1755648" cy="3200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73" name="Text 71"/>
          <p:cNvSpPr/>
          <p:nvPr/>
        </p:nvSpPr>
        <p:spPr>
          <a:xfrm>
            <a:off x="8412480" y="5248656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412480" y="5504688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₹499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8485632" y="587044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Insurance history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287000" y="5193792"/>
            <a:ext cx="1755648" cy="1170432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87000" y="5193792"/>
            <a:ext cx="1755648" cy="3200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78" name="Text 76"/>
          <p:cNvSpPr/>
          <p:nvPr/>
        </p:nvSpPr>
        <p:spPr>
          <a:xfrm>
            <a:off x="10287000" y="5248656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287000" y="5504688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₹999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10360152" y="587044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OBD ECU scan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10835640" y="51572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Y1: ₹1.2 Cr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365760" y="6510528"/>
            <a:ext cx="11457432" cy="201168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2920" y="6528816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DEFERRED TO POST-SEED: LiveCondition (needs mechanic network ₹6L setup) · InstantRC (needs RTO agent network) · Finance commissions (needs bank partnerships). Launch all 5 after Series A.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14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—  PROFIT &amp; LOSS  ·  YEAR 1 DETAILED  (₹ LAKHS)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P&amp;L: BREAKEVEN BY MONTH 5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1457432" cy="285293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30629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636776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ITEM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432304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090672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749040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3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407408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4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65776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5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724144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6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82512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7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040880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8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699248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9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357616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10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015984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11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674352" y="163677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12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332720" y="1636776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1858061"/>
            <a:ext cx="11457432" cy="285293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1922069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Revenue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32304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090672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49040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07408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65776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24144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82512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040880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99248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57616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015984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74352" y="1922069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332720" y="1922069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607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143354"/>
            <a:ext cx="11457432" cy="285293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2207362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Data Revenue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432304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090672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749040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07408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65776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724144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82512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040880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99248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357616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015984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674352" y="220736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332720" y="2207362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" y="2428646"/>
            <a:ext cx="11457432" cy="285293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" y="2492654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432304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090672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749040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07408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065776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724144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82512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040880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699248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357616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015984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674352" y="249265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0332720" y="2492654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2713939"/>
            <a:ext cx="11457432" cy="285293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" y="2777947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432304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090672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749040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407408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065776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724144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382512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040880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699248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357616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9015984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9674352" y="277794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0332720" y="2777947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1,019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65760" y="2999232"/>
            <a:ext cx="11457432" cy="285293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0624" y="3063240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Costs (COGS)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432304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3090672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3749040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407408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065776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724144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382512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7040880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699248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8357616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015984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9674352" y="306324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10332720" y="3063240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3284525"/>
            <a:ext cx="11457432" cy="285293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20624" y="3348533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2432304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3090672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3749040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4407408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5065776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5724144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6382512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7040880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7699248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8357616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9015984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9674352" y="3348533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10332720" y="3348533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781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365760" y="3569818"/>
            <a:ext cx="11457432" cy="285293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20624" y="3633826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%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2432304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3090672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3749040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4407408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5065776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5724144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6382512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7040880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7699248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8357616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9015984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9674352" y="3633826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10332720" y="3633826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365760" y="3855110"/>
            <a:ext cx="11457432" cy="285293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20624" y="3919118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Salaries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2432304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3090672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3749040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50" dirty="0"/>
          </a:p>
        </p:txBody>
      </p:sp>
      <p:sp>
        <p:nvSpPr>
          <p:cNvPr id="132" name="Text 130"/>
          <p:cNvSpPr/>
          <p:nvPr/>
        </p:nvSpPr>
        <p:spPr>
          <a:xfrm>
            <a:off x="4407408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50" dirty="0"/>
          </a:p>
        </p:txBody>
      </p:sp>
      <p:sp>
        <p:nvSpPr>
          <p:cNvPr id="133" name="Text 131"/>
          <p:cNvSpPr/>
          <p:nvPr/>
        </p:nvSpPr>
        <p:spPr>
          <a:xfrm>
            <a:off x="5065776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5724144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6382512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7040880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7699248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8357616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9015984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9674352" y="391911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10332720" y="3919118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1,130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365760" y="4140403"/>
            <a:ext cx="11457432" cy="285293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20624" y="4204411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Infra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2432304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3090672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3749040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147" name="Text 145"/>
          <p:cNvSpPr/>
          <p:nvPr/>
        </p:nvSpPr>
        <p:spPr>
          <a:xfrm>
            <a:off x="4407408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148" name="Text 146"/>
          <p:cNvSpPr/>
          <p:nvPr/>
        </p:nvSpPr>
        <p:spPr>
          <a:xfrm>
            <a:off x="5065776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149" name="Text 147"/>
          <p:cNvSpPr/>
          <p:nvPr/>
        </p:nvSpPr>
        <p:spPr>
          <a:xfrm>
            <a:off x="5724144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150" name="Text 148"/>
          <p:cNvSpPr/>
          <p:nvPr/>
        </p:nvSpPr>
        <p:spPr>
          <a:xfrm>
            <a:off x="6382512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151" name="Text 149"/>
          <p:cNvSpPr/>
          <p:nvPr/>
        </p:nvSpPr>
        <p:spPr>
          <a:xfrm>
            <a:off x="7040880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7699248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153" name="Text 151"/>
          <p:cNvSpPr/>
          <p:nvPr/>
        </p:nvSpPr>
        <p:spPr>
          <a:xfrm>
            <a:off x="8357616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154" name="Text 152"/>
          <p:cNvSpPr/>
          <p:nvPr/>
        </p:nvSpPr>
        <p:spPr>
          <a:xfrm>
            <a:off x="9015984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155" name="Text 153"/>
          <p:cNvSpPr/>
          <p:nvPr/>
        </p:nvSpPr>
        <p:spPr>
          <a:xfrm>
            <a:off x="9674352" y="4204411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156" name="Text 154"/>
          <p:cNvSpPr/>
          <p:nvPr/>
        </p:nvSpPr>
        <p:spPr>
          <a:xfrm>
            <a:off x="10332720" y="4204411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365760" y="4425696"/>
            <a:ext cx="11457432" cy="285293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20624" y="4489704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</a:t>
            </a:r>
            <a:endParaRPr lang="en-US" sz="850" dirty="0"/>
          </a:p>
        </p:txBody>
      </p:sp>
      <p:sp>
        <p:nvSpPr>
          <p:cNvPr id="159" name="Text 157"/>
          <p:cNvSpPr/>
          <p:nvPr/>
        </p:nvSpPr>
        <p:spPr>
          <a:xfrm>
            <a:off x="2432304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160" name="Text 158"/>
          <p:cNvSpPr/>
          <p:nvPr/>
        </p:nvSpPr>
        <p:spPr>
          <a:xfrm>
            <a:off x="3090672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161" name="Text 159"/>
          <p:cNvSpPr/>
          <p:nvPr/>
        </p:nvSpPr>
        <p:spPr>
          <a:xfrm>
            <a:off x="3749040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162" name="Text 160"/>
          <p:cNvSpPr/>
          <p:nvPr/>
        </p:nvSpPr>
        <p:spPr>
          <a:xfrm>
            <a:off x="4407408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163" name="Text 161"/>
          <p:cNvSpPr/>
          <p:nvPr/>
        </p:nvSpPr>
        <p:spPr>
          <a:xfrm>
            <a:off x="5065776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5724144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165" name="Text 163"/>
          <p:cNvSpPr/>
          <p:nvPr/>
        </p:nvSpPr>
        <p:spPr>
          <a:xfrm>
            <a:off x="6382512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50" dirty="0"/>
          </a:p>
        </p:txBody>
      </p:sp>
      <p:sp>
        <p:nvSpPr>
          <p:cNvPr id="166" name="Text 164"/>
          <p:cNvSpPr/>
          <p:nvPr/>
        </p:nvSpPr>
        <p:spPr>
          <a:xfrm>
            <a:off x="7040880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50" dirty="0"/>
          </a:p>
        </p:txBody>
      </p:sp>
      <p:sp>
        <p:nvSpPr>
          <p:cNvPr id="167" name="Text 165"/>
          <p:cNvSpPr/>
          <p:nvPr/>
        </p:nvSpPr>
        <p:spPr>
          <a:xfrm>
            <a:off x="7699248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168" name="Text 166"/>
          <p:cNvSpPr/>
          <p:nvPr/>
        </p:nvSpPr>
        <p:spPr>
          <a:xfrm>
            <a:off x="8357616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169" name="Text 167"/>
          <p:cNvSpPr/>
          <p:nvPr/>
        </p:nvSpPr>
        <p:spPr>
          <a:xfrm>
            <a:off x="9015984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50" dirty="0"/>
          </a:p>
        </p:txBody>
      </p:sp>
      <p:sp>
        <p:nvSpPr>
          <p:cNvPr id="170" name="Text 168"/>
          <p:cNvSpPr/>
          <p:nvPr/>
        </p:nvSpPr>
        <p:spPr>
          <a:xfrm>
            <a:off x="9674352" y="4489704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50" dirty="0"/>
          </a:p>
        </p:txBody>
      </p:sp>
      <p:sp>
        <p:nvSpPr>
          <p:cNvPr id="171" name="Text 169"/>
          <p:cNvSpPr/>
          <p:nvPr/>
        </p:nvSpPr>
        <p:spPr>
          <a:xfrm>
            <a:off x="10332720" y="4489704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294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365760" y="4710989"/>
            <a:ext cx="11457432" cy="285293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20624" y="4774997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 + Legal</a:t>
            </a:r>
            <a:endParaRPr lang="en-US" sz="850" dirty="0"/>
          </a:p>
        </p:txBody>
      </p:sp>
      <p:sp>
        <p:nvSpPr>
          <p:cNvPr id="174" name="Text 172"/>
          <p:cNvSpPr/>
          <p:nvPr/>
        </p:nvSpPr>
        <p:spPr>
          <a:xfrm>
            <a:off x="2432304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75" name="Text 173"/>
          <p:cNvSpPr/>
          <p:nvPr/>
        </p:nvSpPr>
        <p:spPr>
          <a:xfrm>
            <a:off x="3090672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76" name="Text 174"/>
          <p:cNvSpPr/>
          <p:nvPr/>
        </p:nvSpPr>
        <p:spPr>
          <a:xfrm>
            <a:off x="3749040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77" name="Text 175"/>
          <p:cNvSpPr/>
          <p:nvPr/>
        </p:nvSpPr>
        <p:spPr>
          <a:xfrm>
            <a:off x="4407408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78" name="Text 176"/>
          <p:cNvSpPr/>
          <p:nvPr/>
        </p:nvSpPr>
        <p:spPr>
          <a:xfrm>
            <a:off x="5065776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79" name="Text 177"/>
          <p:cNvSpPr/>
          <p:nvPr/>
        </p:nvSpPr>
        <p:spPr>
          <a:xfrm>
            <a:off x="5724144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80" name="Text 178"/>
          <p:cNvSpPr/>
          <p:nvPr/>
        </p:nvSpPr>
        <p:spPr>
          <a:xfrm>
            <a:off x="6382512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181" name="Text 179"/>
          <p:cNvSpPr/>
          <p:nvPr/>
        </p:nvSpPr>
        <p:spPr>
          <a:xfrm>
            <a:off x="7040880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182" name="Text 180"/>
          <p:cNvSpPr/>
          <p:nvPr/>
        </p:nvSpPr>
        <p:spPr>
          <a:xfrm>
            <a:off x="7699248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8357616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184" name="Text 182"/>
          <p:cNvSpPr/>
          <p:nvPr/>
        </p:nvSpPr>
        <p:spPr>
          <a:xfrm>
            <a:off x="9015984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185" name="Text 183"/>
          <p:cNvSpPr/>
          <p:nvPr/>
        </p:nvSpPr>
        <p:spPr>
          <a:xfrm>
            <a:off x="9674352" y="4774997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186" name="Text 184"/>
          <p:cNvSpPr/>
          <p:nvPr/>
        </p:nvSpPr>
        <p:spPr>
          <a:xfrm>
            <a:off x="10332720" y="4774997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365760" y="4996282"/>
            <a:ext cx="11457432" cy="285293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20624" y="5060290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OpEx</a:t>
            </a:r>
            <a:endParaRPr lang="en-US" sz="850" dirty="0"/>
          </a:p>
        </p:txBody>
      </p:sp>
      <p:sp>
        <p:nvSpPr>
          <p:cNvPr id="189" name="Text 187"/>
          <p:cNvSpPr/>
          <p:nvPr/>
        </p:nvSpPr>
        <p:spPr>
          <a:xfrm>
            <a:off x="2432304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850" dirty="0"/>
          </a:p>
        </p:txBody>
      </p:sp>
      <p:sp>
        <p:nvSpPr>
          <p:cNvPr id="190" name="Text 188"/>
          <p:cNvSpPr/>
          <p:nvPr/>
        </p:nvSpPr>
        <p:spPr>
          <a:xfrm>
            <a:off x="3090672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850" dirty="0"/>
          </a:p>
        </p:txBody>
      </p:sp>
      <p:sp>
        <p:nvSpPr>
          <p:cNvPr id="191" name="Text 189"/>
          <p:cNvSpPr/>
          <p:nvPr/>
        </p:nvSpPr>
        <p:spPr>
          <a:xfrm>
            <a:off x="3749040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850" dirty="0"/>
          </a:p>
        </p:txBody>
      </p:sp>
      <p:sp>
        <p:nvSpPr>
          <p:cNvPr id="192" name="Text 190"/>
          <p:cNvSpPr/>
          <p:nvPr/>
        </p:nvSpPr>
        <p:spPr>
          <a:xfrm>
            <a:off x="4407408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850" dirty="0"/>
          </a:p>
        </p:txBody>
      </p:sp>
      <p:sp>
        <p:nvSpPr>
          <p:cNvPr id="193" name="Text 191"/>
          <p:cNvSpPr/>
          <p:nvPr/>
        </p:nvSpPr>
        <p:spPr>
          <a:xfrm>
            <a:off x="5065776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850" dirty="0"/>
          </a:p>
        </p:txBody>
      </p:sp>
      <p:sp>
        <p:nvSpPr>
          <p:cNvPr id="194" name="Text 192"/>
          <p:cNvSpPr/>
          <p:nvPr/>
        </p:nvSpPr>
        <p:spPr>
          <a:xfrm>
            <a:off x="5724144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850" dirty="0"/>
          </a:p>
        </p:txBody>
      </p:sp>
      <p:sp>
        <p:nvSpPr>
          <p:cNvPr id="195" name="Text 193"/>
          <p:cNvSpPr/>
          <p:nvPr/>
        </p:nvSpPr>
        <p:spPr>
          <a:xfrm>
            <a:off x="6382512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</a:t>
            </a:r>
            <a:endParaRPr lang="en-US" sz="850" dirty="0"/>
          </a:p>
        </p:txBody>
      </p:sp>
      <p:sp>
        <p:nvSpPr>
          <p:cNvPr id="196" name="Text 194"/>
          <p:cNvSpPr/>
          <p:nvPr/>
        </p:nvSpPr>
        <p:spPr>
          <a:xfrm>
            <a:off x="7040880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</a:t>
            </a:r>
            <a:endParaRPr lang="en-US" sz="850" dirty="0"/>
          </a:p>
        </p:txBody>
      </p:sp>
      <p:sp>
        <p:nvSpPr>
          <p:cNvPr id="197" name="Text 195"/>
          <p:cNvSpPr/>
          <p:nvPr/>
        </p:nvSpPr>
        <p:spPr>
          <a:xfrm>
            <a:off x="7699248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</a:t>
            </a:r>
            <a:endParaRPr lang="en-US" sz="850" dirty="0"/>
          </a:p>
        </p:txBody>
      </p:sp>
      <p:sp>
        <p:nvSpPr>
          <p:cNvPr id="198" name="Text 196"/>
          <p:cNvSpPr/>
          <p:nvPr/>
        </p:nvSpPr>
        <p:spPr>
          <a:xfrm>
            <a:off x="8357616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</a:t>
            </a:r>
            <a:endParaRPr lang="en-US" sz="850" dirty="0"/>
          </a:p>
        </p:txBody>
      </p:sp>
      <p:sp>
        <p:nvSpPr>
          <p:cNvPr id="199" name="Text 197"/>
          <p:cNvSpPr/>
          <p:nvPr/>
        </p:nvSpPr>
        <p:spPr>
          <a:xfrm>
            <a:off x="9015984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</a:t>
            </a:r>
            <a:endParaRPr lang="en-US" sz="850" dirty="0"/>
          </a:p>
        </p:txBody>
      </p:sp>
      <p:sp>
        <p:nvSpPr>
          <p:cNvPr id="200" name="Text 198"/>
          <p:cNvSpPr/>
          <p:nvPr/>
        </p:nvSpPr>
        <p:spPr>
          <a:xfrm>
            <a:off x="9674352" y="5060290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</a:t>
            </a:r>
            <a:endParaRPr lang="en-US" sz="850" dirty="0"/>
          </a:p>
        </p:txBody>
      </p:sp>
      <p:sp>
        <p:nvSpPr>
          <p:cNvPr id="201" name="Text 199"/>
          <p:cNvSpPr/>
          <p:nvPr/>
        </p:nvSpPr>
        <p:spPr>
          <a:xfrm>
            <a:off x="10332720" y="5060290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1,746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365760" y="5281574"/>
            <a:ext cx="11457432" cy="285293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20624" y="5345582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2432304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(118)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3090672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(118)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3749040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(117)</a:t>
            </a:r>
            <a:endParaRPr lang="en-US" sz="850" dirty="0"/>
          </a:p>
        </p:txBody>
      </p:sp>
      <p:sp>
        <p:nvSpPr>
          <p:cNvPr id="207" name="Text 205"/>
          <p:cNvSpPr/>
          <p:nvPr/>
        </p:nvSpPr>
        <p:spPr>
          <a:xfrm>
            <a:off x="4407408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(112)</a:t>
            </a:r>
            <a:endParaRPr lang="en-US" sz="850" dirty="0"/>
          </a:p>
        </p:txBody>
      </p:sp>
      <p:sp>
        <p:nvSpPr>
          <p:cNvPr id="208" name="Text 206"/>
          <p:cNvSpPr/>
          <p:nvPr/>
        </p:nvSpPr>
        <p:spPr>
          <a:xfrm>
            <a:off x="5065776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(101)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5724144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(86)</a:t>
            </a:r>
            <a:endParaRPr lang="en-US" sz="850" dirty="0"/>
          </a:p>
        </p:txBody>
      </p:sp>
      <p:sp>
        <p:nvSpPr>
          <p:cNvPr id="210" name="Text 208"/>
          <p:cNvSpPr/>
          <p:nvPr/>
        </p:nvSpPr>
        <p:spPr>
          <a:xfrm>
            <a:off x="6382512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(94)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040880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(78)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7699248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(76)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8357616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(50)</a:t>
            </a:r>
            <a:endParaRPr lang="en-US" sz="850" dirty="0"/>
          </a:p>
        </p:txBody>
      </p:sp>
      <p:sp>
        <p:nvSpPr>
          <p:cNvPr id="214" name="Text 212"/>
          <p:cNvSpPr/>
          <p:nvPr/>
        </p:nvSpPr>
        <p:spPr>
          <a:xfrm>
            <a:off x="9015984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(32)</a:t>
            </a:r>
            <a:endParaRPr lang="en-US" sz="850" dirty="0"/>
          </a:p>
        </p:txBody>
      </p:sp>
      <p:sp>
        <p:nvSpPr>
          <p:cNvPr id="215" name="Text 213"/>
          <p:cNvSpPr/>
          <p:nvPr/>
        </p:nvSpPr>
        <p:spPr>
          <a:xfrm>
            <a:off x="9674352" y="5345582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10332720" y="5345582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(765)</a:t>
            </a:r>
            <a:endParaRPr lang="en-US" sz="850" dirty="0"/>
          </a:p>
        </p:txBody>
      </p:sp>
      <p:sp>
        <p:nvSpPr>
          <p:cNvPr id="217" name="Shape 215"/>
          <p:cNvSpPr/>
          <p:nvPr/>
        </p:nvSpPr>
        <p:spPr>
          <a:xfrm>
            <a:off x="365760" y="5566867"/>
            <a:ext cx="11457432" cy="285293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420624" y="5630875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(cumulative)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2432304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(118)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3090672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(236)</a:t>
            </a:r>
            <a:endParaRPr lang="en-US" sz="850" dirty="0"/>
          </a:p>
        </p:txBody>
      </p:sp>
      <p:sp>
        <p:nvSpPr>
          <p:cNvPr id="221" name="Text 219"/>
          <p:cNvSpPr/>
          <p:nvPr/>
        </p:nvSpPr>
        <p:spPr>
          <a:xfrm>
            <a:off x="3749040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(353)</a:t>
            </a:r>
            <a:endParaRPr lang="en-US" sz="850" dirty="0"/>
          </a:p>
        </p:txBody>
      </p:sp>
      <p:sp>
        <p:nvSpPr>
          <p:cNvPr id="222" name="Text 220"/>
          <p:cNvSpPr/>
          <p:nvPr/>
        </p:nvSpPr>
        <p:spPr>
          <a:xfrm>
            <a:off x="4407408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(465)</a:t>
            </a:r>
            <a:endParaRPr lang="en-US" sz="850" dirty="0"/>
          </a:p>
        </p:txBody>
      </p:sp>
      <p:sp>
        <p:nvSpPr>
          <p:cNvPr id="223" name="Text 221"/>
          <p:cNvSpPr/>
          <p:nvPr/>
        </p:nvSpPr>
        <p:spPr>
          <a:xfrm>
            <a:off x="5065776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(566)</a:t>
            </a:r>
            <a:endParaRPr lang="en-US" sz="850" dirty="0"/>
          </a:p>
        </p:txBody>
      </p:sp>
      <p:sp>
        <p:nvSpPr>
          <p:cNvPr id="224" name="Text 222"/>
          <p:cNvSpPr/>
          <p:nvPr/>
        </p:nvSpPr>
        <p:spPr>
          <a:xfrm>
            <a:off x="5724144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(652)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6382512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(746)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7040880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(824)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7699248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(900)</a:t>
            </a:r>
            <a:endParaRPr lang="en-US" sz="850" dirty="0"/>
          </a:p>
        </p:txBody>
      </p:sp>
      <p:sp>
        <p:nvSpPr>
          <p:cNvPr id="228" name="Text 226"/>
          <p:cNvSpPr/>
          <p:nvPr/>
        </p:nvSpPr>
        <p:spPr>
          <a:xfrm>
            <a:off x="8357616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(950)</a:t>
            </a:r>
            <a:endParaRPr lang="en-US" sz="850" dirty="0"/>
          </a:p>
        </p:txBody>
      </p:sp>
      <p:sp>
        <p:nvSpPr>
          <p:cNvPr id="229" name="Text 227"/>
          <p:cNvSpPr/>
          <p:nvPr/>
        </p:nvSpPr>
        <p:spPr>
          <a:xfrm>
            <a:off x="9015984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(982)</a:t>
            </a:r>
            <a:endParaRPr lang="en-US" sz="850" dirty="0"/>
          </a:p>
        </p:txBody>
      </p:sp>
      <p:sp>
        <p:nvSpPr>
          <p:cNvPr id="230" name="Text 228"/>
          <p:cNvSpPr/>
          <p:nvPr/>
        </p:nvSpPr>
        <p:spPr>
          <a:xfrm>
            <a:off x="9674352" y="5630875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(965)</a:t>
            </a:r>
            <a:endParaRPr lang="en-US" sz="850" dirty="0"/>
          </a:p>
        </p:txBody>
      </p:sp>
      <p:sp>
        <p:nvSpPr>
          <p:cNvPr id="231" name="Text 229"/>
          <p:cNvSpPr/>
          <p:nvPr/>
        </p:nvSpPr>
        <p:spPr>
          <a:xfrm>
            <a:off x="10332720" y="5630875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365760" y="5852160"/>
            <a:ext cx="11457432" cy="285293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420624" y="5916168"/>
            <a:ext cx="190195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Remaining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2432304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850" dirty="0"/>
          </a:p>
        </p:txBody>
      </p:sp>
      <p:sp>
        <p:nvSpPr>
          <p:cNvPr id="235" name="Text 233"/>
          <p:cNvSpPr/>
          <p:nvPr/>
        </p:nvSpPr>
        <p:spPr>
          <a:xfrm>
            <a:off x="3090672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850" dirty="0"/>
          </a:p>
        </p:txBody>
      </p:sp>
      <p:sp>
        <p:nvSpPr>
          <p:cNvPr id="236" name="Text 234"/>
          <p:cNvSpPr/>
          <p:nvPr/>
        </p:nvSpPr>
        <p:spPr>
          <a:xfrm>
            <a:off x="3749040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4407408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</a:t>
            </a:r>
            <a:endParaRPr lang="en-US" sz="850" dirty="0"/>
          </a:p>
        </p:txBody>
      </p:sp>
      <p:sp>
        <p:nvSpPr>
          <p:cNvPr id="238" name="Text 236"/>
          <p:cNvSpPr/>
          <p:nvPr/>
        </p:nvSpPr>
        <p:spPr>
          <a:xfrm>
            <a:off x="5065776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5724144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6382512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7040880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</a:t>
            </a:r>
            <a:endParaRPr lang="en-US" sz="850" dirty="0"/>
          </a:p>
        </p:txBody>
      </p:sp>
      <p:sp>
        <p:nvSpPr>
          <p:cNvPr id="242" name="Text 240"/>
          <p:cNvSpPr/>
          <p:nvPr/>
        </p:nvSpPr>
        <p:spPr>
          <a:xfrm>
            <a:off x="7699248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</a:t>
            </a:r>
            <a:endParaRPr lang="en-US" sz="850" dirty="0"/>
          </a:p>
        </p:txBody>
      </p:sp>
      <p:sp>
        <p:nvSpPr>
          <p:cNvPr id="243" name="Text 241"/>
          <p:cNvSpPr/>
          <p:nvPr/>
        </p:nvSpPr>
        <p:spPr>
          <a:xfrm>
            <a:off x="8357616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418</a:t>
            </a:r>
            <a:endParaRPr lang="en-US" sz="850" dirty="0"/>
          </a:p>
        </p:txBody>
      </p:sp>
      <p:sp>
        <p:nvSpPr>
          <p:cNvPr id="244" name="Text 242"/>
          <p:cNvSpPr/>
          <p:nvPr/>
        </p:nvSpPr>
        <p:spPr>
          <a:xfrm>
            <a:off x="9015984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</a:t>
            </a:r>
            <a:endParaRPr lang="en-US" sz="850" dirty="0"/>
          </a:p>
        </p:txBody>
      </p:sp>
      <p:sp>
        <p:nvSpPr>
          <p:cNvPr id="245" name="Text 243"/>
          <p:cNvSpPr/>
          <p:nvPr/>
        </p:nvSpPr>
        <p:spPr>
          <a:xfrm>
            <a:off x="9674352" y="5916168"/>
            <a:ext cx="548640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718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10332720" y="5916168"/>
            <a:ext cx="713232" cy="157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247" name="Shape 245"/>
          <p:cNvSpPr/>
          <p:nvPr/>
        </p:nvSpPr>
        <p:spPr>
          <a:xfrm>
            <a:off x="365760" y="2713939"/>
            <a:ext cx="11457432" cy="285293"/>
          </a:xfrm>
          <a:prstGeom prst="rect">
            <a:avLst/>
          </a:prstGeom>
          <a:solidFill>
            <a:srgbClr val="1A150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365760" y="2713939"/>
            <a:ext cx="11457432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9" name="Shape 247"/>
          <p:cNvSpPr/>
          <p:nvPr/>
        </p:nvSpPr>
        <p:spPr>
          <a:xfrm>
            <a:off x="365760" y="3284525"/>
            <a:ext cx="11457432" cy="285293"/>
          </a:xfrm>
          <a:prstGeom prst="rect">
            <a:avLst/>
          </a:prstGeom>
          <a:solidFill>
            <a:srgbClr val="0A1A0A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65760" y="3284525"/>
            <a:ext cx="11457432" cy="18288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251" name="Shape 249"/>
          <p:cNvSpPr/>
          <p:nvPr/>
        </p:nvSpPr>
        <p:spPr>
          <a:xfrm>
            <a:off x="365760" y="4996282"/>
            <a:ext cx="11457432" cy="285293"/>
          </a:xfrm>
          <a:prstGeom prst="rect">
            <a:avLst/>
          </a:prstGeom>
          <a:solidFill>
            <a:srgbClr val="1A1508"/>
          </a:solidFill>
          <a:ln w="6350">
            <a:solidFill>
              <a:srgbClr val="6B581E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365760" y="4996282"/>
            <a:ext cx="11457432" cy="18288"/>
          </a:xfrm>
          <a:prstGeom prst="rect">
            <a:avLst/>
          </a:prstGeom>
          <a:solidFill>
            <a:srgbClr val="6B581E"/>
          </a:solidFill>
          <a:ln/>
        </p:spPr>
      </p:sp>
      <p:sp>
        <p:nvSpPr>
          <p:cNvPr id="253" name="Shape 251"/>
          <p:cNvSpPr/>
          <p:nvPr/>
        </p:nvSpPr>
        <p:spPr>
          <a:xfrm>
            <a:off x="365760" y="5281574"/>
            <a:ext cx="11457432" cy="285293"/>
          </a:xfrm>
          <a:prstGeom prst="rect">
            <a:avLst/>
          </a:prstGeom>
          <a:solidFill>
            <a:srgbClr val="1A0A0A"/>
          </a:solidFill>
          <a:ln w="6350">
            <a:solidFill>
              <a:srgbClr val="E8404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5281574"/>
            <a:ext cx="11457432" cy="1828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55" name="Shape 253"/>
          <p:cNvSpPr/>
          <p:nvPr/>
        </p:nvSpPr>
        <p:spPr>
          <a:xfrm>
            <a:off x="365760" y="5852160"/>
            <a:ext cx="11457432" cy="285293"/>
          </a:xfrm>
          <a:prstGeom prst="rect">
            <a:avLst/>
          </a:prstGeom>
          <a:solidFill>
            <a:srgbClr val="0A1A0A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365760" y="5852160"/>
            <a:ext cx="11457432" cy="18288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257" name="Shape 255"/>
          <p:cNvSpPr/>
          <p:nvPr/>
        </p:nvSpPr>
        <p:spPr>
          <a:xfrm>
            <a:off x="365760" y="6327648"/>
            <a:ext cx="11457432" cy="32004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65760" y="6327648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9" name="Text 257"/>
          <p:cNvSpPr/>
          <p:nvPr/>
        </p:nvSpPr>
        <p:spPr>
          <a:xfrm>
            <a:off x="502920" y="6364224"/>
            <a:ext cx="11183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(All figures in ₹ Lakhs): First profitable month is Month 12 (EBITDA ₹17L). Cumulative cash consumed = ₹96.5L (less than half of starting ₹200L). Cash balance ₹718L = 3.6x starting capital. Ready for seed raise from position of strength.</a:t>
            </a:r>
            <a:endParaRPr lang="en-US" sz="800" dirty="0"/>
          </a:p>
        </p:txBody>
      </p:sp>
      <p:sp>
        <p:nvSpPr>
          <p:cNvPr id="260" name="Text 258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14</a:t>
            </a:r>
            <a:endParaRPr lang="en-US" sz="800" dirty="0"/>
          </a:p>
        </p:txBody>
      </p:sp>
      <p:sp>
        <p:nvSpPr>
          <p:cNvPr id="261" name="Text 259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—  HEADCOUNT PLAN  ·  WHO WE HIRE AND WHEN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PEOPLE. MAXIMUM LEVERAGE.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1457432" cy="768096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45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/ CEO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Starts: Day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₹1.5L/mo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210312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Equity: 20–25%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29000" y="16459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Dealer sales, B2B contracts, investor relations, strategy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29000" y="197510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Non-negotiable. CEO must sell. No hiring someone else to do this at ₹2 Cr stage.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404872"/>
            <a:ext cx="11457432" cy="768096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04872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478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/ CPO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7523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Starts: Day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29352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₹1.5L/mo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93522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Equity: 20–25%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24780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Product roadmap, dealer onboarding, customer success, ops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29000" y="280720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Owns the product and the dealer relationship. Lives in the DealerOS dashboard daily.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236976"/>
            <a:ext cx="11457432" cy="768096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236976"/>
            <a:ext cx="11457432" cy="3200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310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/ Lead Engineer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584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Starts: Month 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37673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₹2.5L/mo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37673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Equity: 5–8%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29000" y="33101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Platform stability, Parivahan API, DemandPulse pipeline, mobile prep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29000" y="36393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Most important hire. Full-stack, knows Next.js + Supabase. Existing codebase already clean.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4069080"/>
            <a:ext cx="11457432" cy="768096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069080"/>
            <a:ext cx="11457432" cy="3200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142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4165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Starts: Month 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45994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₹1.8L/mo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11680" y="45994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Equity: 1–2%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29000" y="41422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Feature development, API integrations, bug fixes, dealer tools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29000" y="447141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Second engineer to unblock CTO. Junior-to-mid. AI-assisted = 2x productivity.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4901184"/>
            <a:ext cx="11457432" cy="768096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4901184"/>
            <a:ext cx="11457432" cy="3200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49743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/ Dealer Ops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524865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Starts: Month 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54315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₹80K/mo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011680" y="54315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Equity: 0.5–1%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29000" y="49743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Dealer onboarding, WhatsApp support, field ops in 1 city, referral program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29000" y="530352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The hustler. Onboards 20 dealers/week in target city. Metrics-obsessed.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5733288"/>
            <a:ext cx="11457432" cy="768096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5733288"/>
            <a:ext cx="11457432" cy="32004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5806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Compliance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6080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Starts: Month 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2920" y="6263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₹60K/mo (part-time)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011680" y="62636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Equity: 0–0.5%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429000" y="58064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GST, invoicing, B2B contract administration, investor reporting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429000" y="613562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CA on retainer. Not full-time until Month 9. Outsource at first.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" y="6565392"/>
            <a:ext cx="11457432" cy="13716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6565392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1183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MONTHLY BURN (PEOPLE ONLY): ₹8.15L/mo (Months 1–2)  →  ₹9.15L/mo (Month 3+)  ·  Annual people cost: ₹1.06 Cr  ·  55% of total capital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—  3-YEAR FORECAST  ·  BOOTSTRAP → SEED → SERIES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₹7.3 CR → ₹85 CR → ₹280 CR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3474720" cy="59436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36192"/>
            <a:ext cx="3474720" cy="3200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572768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1 (Bootstrap)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 Cr capital · 6 FTEs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23360" y="1536192"/>
            <a:ext cx="3840480" cy="59436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536192"/>
            <a:ext cx="38404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133088" y="157276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2 (Post-Seed ₹20 Cr)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33088" y="1828800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FTEs · 22 cities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046720" y="1536192"/>
            <a:ext cx="3794760" cy="59436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536192"/>
            <a:ext cx="3794760" cy="32004"/>
          </a:xfrm>
          <a:prstGeom prst="rect">
            <a:avLst/>
          </a:prstGeom>
          <a:solidFill>
            <a:srgbClr val="9B6DD4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1572768"/>
            <a:ext cx="3575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D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3 (Post-Series A ₹80 Cr)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56448" y="1828800"/>
            <a:ext cx="3575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FTEs · all verticals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212848"/>
            <a:ext cx="11457432" cy="25603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441448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" y="2276856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46704" y="2276856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FY2026</a:t>
            </a:r>
            <a:endParaRPr lang="en-US" sz="700" dirty="0"/>
          </a:p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(Bootstrap)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07024" y="2276856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FY2027</a:t>
            </a:r>
            <a:endParaRPr lang="en-US" sz="700" dirty="0"/>
          </a:p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(Post-Seed)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015984" y="2276856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FY2028</a:t>
            </a:r>
            <a:endParaRPr lang="en-US" sz="700" dirty="0"/>
          </a:p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(Post-Series A)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60" y="2468880"/>
            <a:ext cx="11457432" cy="25603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2532888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Capital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46704" y="2532888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 Cr (own)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07024" y="2532888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₹7.18 Cr + ₹20 Cr raise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15984" y="2532888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₹27 Cr + ₹80 Cr raise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724912"/>
            <a:ext cx="11457432" cy="25603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788920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46704" y="2788920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₹7.3 Cr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07024" y="2788920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₹85 Cr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015984" y="2788920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₹280 Cr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2980944"/>
            <a:ext cx="11457432" cy="25603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3044952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SaaS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46704" y="3044952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₹3.8 Cr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07024" y="3044952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₹38 Cr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015984" y="3044952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₹108 Cr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3236976"/>
            <a:ext cx="11457432" cy="25603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3300984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Data (DemandPulse)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46704" y="3300984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₹1.8 Cr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07024" y="3300984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 Cr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015984" y="3300984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₹72 Cr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3493008"/>
            <a:ext cx="11457432" cy="25603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3557016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346704" y="3557016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₹1.2 Cr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07024" y="3557016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 Cr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015984" y="3557016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₹38 Cr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3749040"/>
            <a:ext cx="11457432" cy="25603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" y="3813048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LiveCondition + RC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46704" y="3813048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₹0.5 Cr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907024" y="3813048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 Cr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015984" y="3813048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 Cr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4005072"/>
            <a:ext cx="11457432" cy="25603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" y="4069080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+ Insurance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346704" y="4069080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Cr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907024" y="4069080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 Cr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015984" y="4069080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 Cr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" y="4261104"/>
            <a:ext cx="11457432" cy="25603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" y="4325112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346704" y="4325112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₹5.5 Cr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907024" y="4325112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₹65 Cr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015984" y="4325112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₹224 Cr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5760" y="4517136"/>
            <a:ext cx="11457432" cy="25603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0624" y="4581144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346704" y="4581144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75.3%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907024" y="4581144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76.5%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015984" y="4581144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65760" y="4773168"/>
            <a:ext cx="11457432" cy="25603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0624" y="4837176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OpEx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346704" y="4837176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₹17.5 Cr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907024" y="4837176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 Cr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015984" y="4837176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₹96 Cr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65760" y="5029200"/>
            <a:ext cx="11457432" cy="25603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624" y="5093208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346704" y="5093208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(₹12 Cr)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907024" y="5093208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₹23 Cr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9015984" y="5093208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₹128 Cr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65760" y="5285232"/>
            <a:ext cx="11457432" cy="25603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624" y="5349240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3346704" y="5349240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(16%)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907024" y="5349240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9015984" y="5349240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45.7%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65760" y="5541264"/>
            <a:ext cx="11457432" cy="25603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20624" y="5605272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(FTEs)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3346704" y="5605272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907024" y="5605272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9015984" y="5605272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65760" y="5797296"/>
            <a:ext cx="11457432" cy="25603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0624" y="5861304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Dealers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3346704" y="5861304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3,500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907024" y="5861304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18,000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9015984" y="5861304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55,000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365760" y="6053328"/>
            <a:ext cx="11457432" cy="25603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0624" y="6117336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Contracts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3346704" y="6117336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907024" y="6117336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9015984" y="6117336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65760" y="6309360"/>
            <a:ext cx="11457432" cy="25603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0624" y="6373368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Covered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3346704" y="6373368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907024" y="6373368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9015984" y="6373368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20624" y="6629400"/>
            <a:ext cx="28163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(implied)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3346704" y="6629400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₹250–400 Cr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5907024" y="6629400"/>
            <a:ext cx="2999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₹1,200–1,800 Cr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9015984" y="6629400"/>
            <a:ext cx="30906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₹5,600–8,400 Cr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365760" y="2980944"/>
            <a:ext cx="11457432" cy="256032"/>
          </a:xfrm>
          <a:prstGeom prst="rect">
            <a:avLst/>
          </a:prstGeom>
          <a:solidFill>
            <a:srgbClr val="1A150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65760" y="4517136"/>
            <a:ext cx="11457432" cy="256032"/>
          </a:xfrm>
          <a:prstGeom prst="rect">
            <a:avLst/>
          </a:prstGeom>
          <a:solidFill>
            <a:srgbClr val="0A1A0A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65760" y="5285232"/>
            <a:ext cx="11457432" cy="256032"/>
          </a:xfrm>
          <a:prstGeom prst="rect">
            <a:avLst/>
          </a:prstGeom>
          <a:solidFill>
            <a:srgbClr val="1A0808"/>
          </a:solidFill>
          <a:ln w="6350">
            <a:solidFill>
              <a:srgbClr val="E8404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65760" y="6821424"/>
            <a:ext cx="11457432" cy="256032"/>
          </a:xfrm>
          <a:prstGeom prst="rect">
            <a:avLst/>
          </a:prstGeom>
          <a:solidFill>
            <a:srgbClr val="1A150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14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—  UNIT ECONOMICS  ·  THE NUMBERS THAT MATTER MOST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BOOTSTRAPPED UNIT ECONOMICS</a:t>
            </a:r>
            <a:endParaRPr lang="en-US" sz="2400" dirty="0"/>
          </a:p>
          <a:p>
            <a:pPr indent="0" marL="0">
              <a:buNone/>
            </a:pPr>
            <a:r>
              <a:rPr lang="en-US" sz="2400" b="1" spc="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ACTUALLY STRONGER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we cannot afford paid acquisition, every metric must be earned organically. This forces better unit economics than funded competitors.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3794760" cy="46177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38528"/>
            <a:ext cx="379476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993392"/>
            <a:ext cx="3575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DEALER ACQUISITION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95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(Bootstrap Y1)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86000" y="2432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39572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+ organic only; zero paid spend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" y="286664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215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(vs. funded competitors)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0" y="295808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₹1,800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92150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Spinny spends ₹3,200+ CAC; we have structural advantage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" y="339242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472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Revenue/Dealer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0" y="348386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₹3,200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44728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tier ₹999 + avg loan commission ₹2,200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391820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9730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Profit/Dealer/Month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86000" y="40096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₹2,300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97306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GM on dealer revenue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444398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4988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86000" y="45354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0.17 months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449884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₹400 CAC ÷ ₹2,300/mo GP = 5 days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" y="496976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50246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LTV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286000" y="50612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₹27,600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502462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₹2,300/mo × 12 × 92% retention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" y="549554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5550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: CAC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86000" y="558698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0" y="555040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bootstrap CAC — extraordinary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" y="602132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60761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Churn Target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286000" y="611276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&lt;8%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0" y="607618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DealerOS is pricing brain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315968" y="1938528"/>
            <a:ext cx="3794760" cy="46177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15968" y="1938528"/>
            <a:ext cx="3794760" cy="3200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44" name="Text 42"/>
          <p:cNvSpPr/>
          <p:nvPr/>
        </p:nvSpPr>
        <p:spPr>
          <a:xfrm>
            <a:off x="4425696" y="1993392"/>
            <a:ext cx="3575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DATA CONTRACTS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07408" y="234086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2395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(pilot → paid)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36208" y="2432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₹1.2L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50608" y="239572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BD meetings + PoC data setup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407408" y="286664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29215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Pilot ACV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36208" y="295808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₹6L/yr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50608" y="292150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₹50K/mo × 12; convert in Mo 4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407408" y="339242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0560" y="34472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36208" y="348386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150608" y="344728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 marginal data cost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407408" y="391820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0" y="39730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GP/Contract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236208" y="40096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₹4.92L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150608" y="397306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₹6L × 82%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407408" y="444398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44988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236208" y="45354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 months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50608" y="449884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₹1.2L ÷ ₹41K/mo GP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407408" y="496976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80560" y="50246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Retention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236208" y="50612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125%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150608" y="502462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pilot; expand to 3 products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407408" y="549554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80560" y="5550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Length (avg)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236208" y="558698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 years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150608" y="555040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contracts, high renewal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407408" y="602132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80560" y="60761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(2.5-year)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236208" y="611276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₹9.84L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150608" y="607618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₹4.92L/yr × 2.5 × 80% renewal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8266176" y="1938528"/>
            <a:ext cx="3794760" cy="46177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66176" y="1938528"/>
            <a:ext cx="3794760" cy="3200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79" name="Text 77"/>
          <p:cNvSpPr/>
          <p:nvPr/>
        </p:nvSpPr>
        <p:spPr>
          <a:xfrm>
            <a:off x="8375904" y="1993392"/>
            <a:ext cx="3575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VEHICLEPASSPORT REPORTS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357616" y="234086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430768" y="2395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produce (per report)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0186416" y="2432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₹140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1100816" y="239572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calls + compute + storage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8357616" y="286664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430768" y="29215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report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0186416" y="295808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₹499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11100816" y="292150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pricing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8357616" y="339242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430768" y="34472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10186416" y="348386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1100816" y="344728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₹359 gross profit per report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8357616" y="391820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430768" y="39730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(for report buyer)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10186416" y="40096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11100816" y="397306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recommends it; zero CAC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8357616" y="444398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430768" y="44988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Reports/dealer/month (avg)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10186416" y="45354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0.57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11100816" y="449884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report per 1.75 cars sold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8357616" y="496976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430768" y="50246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dealer contribution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10186416" y="50612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₹204/mo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11100816" y="502462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 × ₹359 GP per report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8357616" y="5495544"/>
            <a:ext cx="3611880" cy="47548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430768" y="5550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at 5,000 dealers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10186416" y="558698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₹10.2L/mo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11100816" y="555040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₹1.22 Cr ARR from dealer network alone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8357616" y="6021324"/>
            <a:ext cx="3611880" cy="47548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430768" y="60761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direct reports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0186416" y="611276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+40%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11100816" y="607618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buyers finding us via SEO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365760" y="6629400"/>
            <a:ext cx="11457432" cy="9144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2920" y="6647688"/>
            <a:ext cx="1118311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ADVANTAGE: Zero paid CAC forces organic acquisition — which creates the data flywheel. Every organic dealer = free data = better DemandPulse = higher B2B price = more margin to invest in growth.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—  SEED RAISE  ·  THE CASE WE TAKE TO INVESTORS AT MONTH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RAISE AT ₹15 CR ARR.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AT ZERO.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founders raise before product-market fit. We raise after 12 months of proved unit economics, 3,500 dealers, 20 B2B contracts, and ₹7 Cr in the bank. This changes the negotiation entirely.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SHOW INVESTORS AT MONTH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379476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59152"/>
            <a:ext cx="379476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4505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₹15 Cr ARR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2953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recurring run rate going into the raise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15968" y="2359152"/>
            <a:ext cx="379476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2359152"/>
            <a:ext cx="379476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453128" y="24505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3,500 dealers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453128" y="2953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875 paying (25% conversion), 2,625 free tier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66176" y="2359152"/>
            <a:ext cx="379476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2359152"/>
            <a:ext cx="3794760" cy="3200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18" name="Text 16"/>
          <p:cNvSpPr/>
          <p:nvPr/>
        </p:nvSpPr>
        <p:spPr>
          <a:xfrm>
            <a:off x="8403336" y="24505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B2B contracts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03336" y="2953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+ insurers paying ₹50K–3L/mo each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529584"/>
            <a:ext cx="379476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29584"/>
            <a:ext cx="3794760" cy="32004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62102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₹7.18 Cr cash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02920" y="412394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3.6x starting capital. We grew without burning out.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15968" y="3529584"/>
            <a:ext cx="379476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15968" y="3529584"/>
            <a:ext cx="3794760" cy="3200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362102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5-day payback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453128" y="412394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₹400, daily GP ₹76. No other platform can claim this.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66176" y="3529584"/>
            <a:ext cx="379476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66176" y="3529584"/>
            <a:ext cx="3794760" cy="32004"/>
          </a:xfrm>
          <a:prstGeom prst="rect">
            <a:avLst/>
          </a:prstGeom>
          <a:solidFill>
            <a:srgbClr val="9B6DD4"/>
          </a:solidFill>
          <a:ln/>
        </p:spPr>
      </p:sp>
      <p:sp>
        <p:nvSpPr>
          <p:cNvPr id="30" name="Text 28"/>
          <p:cNvSpPr/>
          <p:nvPr/>
        </p:nvSpPr>
        <p:spPr>
          <a:xfrm>
            <a:off x="8403336" y="362102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6D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76% gross margin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403336" y="412394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SaaS-grade margins from day one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ROUND TERMS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5047488"/>
            <a:ext cx="11457432" cy="25603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08406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Amount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88920" y="508406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₹20–25 Cr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5084064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12–18 months runway post-raise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5321808"/>
            <a:ext cx="11457432" cy="256032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3583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Pre-Money Valuation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88920" y="53583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₹120–150 Cr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5358384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 ARR multiple — conservative for SaaS at 76% GM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5596128"/>
            <a:ext cx="11457432" cy="25603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6327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Dilution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88920" y="56327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14–17%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5632704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retain 60%+ post-seed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5870448"/>
            <a:ext cx="11457432" cy="256032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9070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of Funds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88920" y="59070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DealerOS scale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5907024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to 20,000 dealers, 5 to 22 cities, 6 to 25 FTEs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" y="6144768"/>
            <a:ext cx="11457432" cy="25603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1813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Investors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88920" y="61813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Blume, Stellaris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6181344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Auto angels: ex-CarDekho, ex-Cars24, auto OEM executives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" y="6419088"/>
            <a:ext cx="11457432" cy="256032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45566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Milestones to Series A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88920" y="645566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₹50 Cr ARR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66360" y="6455664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post-seed at ₹85 Cr Y2 trajectory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—  RISK REGISTER  ·  WHAT KILLS ₹2 CR COMPANIES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5 EXISTENTIAL RISKS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50" kern="0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HOW WE SURVIVE THEM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1457432" cy="9144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11457432" cy="32004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19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Revenue takes 9+ months to start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US: Burn through capital before proving model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37560" y="1719072"/>
            <a:ext cx="4206240" cy="768096"/>
          </a:xfrm>
          <a:prstGeom prst="rect">
            <a:avLst/>
          </a:prstGeom>
          <a:solidFill>
            <a:srgbClr val="0A2A14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7373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01568" y="19202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free tier + B2B pilots start Month 3. Even ₹5L MRR buys 8 extra months.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26680" y="1719072"/>
            <a:ext cx="4114800" cy="768096"/>
          </a:xfrm>
          <a:prstGeom prst="rect">
            <a:avLst/>
          </a:prstGeom>
          <a:solidFill>
            <a:srgbClr val="1A0A08"/>
          </a:solidFill>
          <a:ln w="6350">
            <a:solidFill>
              <a:srgbClr val="E887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0688" y="17373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CONTINGENCY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790688" y="19202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 check: if &lt;₹15L MRR, cut 2 FTEs, extend runway to 22 months.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11457432" cy="9144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33472"/>
            <a:ext cx="11457432" cy="32004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06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Key engineer quits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9992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US: Platform breaks, no one to fix, B2B contracts lost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37560" y="2706624"/>
            <a:ext cx="4206240" cy="768096"/>
          </a:xfrm>
          <a:prstGeom prst="rect">
            <a:avLst/>
          </a:prstGeom>
          <a:solidFill>
            <a:srgbClr val="0A2A14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7249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01568" y="29077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has 30% equity. Two engineers means redundancy. All code documented.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26680" y="2706624"/>
            <a:ext cx="4114800" cy="768096"/>
          </a:xfrm>
          <a:prstGeom prst="rect">
            <a:avLst/>
          </a:prstGeom>
          <a:solidFill>
            <a:srgbClr val="1A0A08"/>
          </a:solidFill>
          <a:ln w="6350">
            <a:solidFill>
              <a:srgbClr val="E887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0688" y="27249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CONTINGENCY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790688" y="290779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Pre-screen 2 backup engineers now. Freelance contract ready to activate.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621024"/>
            <a:ext cx="11457432" cy="9144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21024"/>
            <a:ext cx="11457432" cy="32004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941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Parivahan API blocked/delayed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98678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8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US: VehiclePassport stalls; trust story weakens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37560" y="3694176"/>
            <a:ext cx="4206240" cy="768096"/>
          </a:xfrm>
          <a:prstGeom prst="rect">
            <a:avLst/>
          </a:prstGeom>
          <a:solidFill>
            <a:srgbClr val="0A2A14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7124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401568" y="3895344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verification works at &lt;200 reports/mo. OBD + insurance data fills 80% of value.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726680" y="3694176"/>
            <a:ext cx="4114800" cy="768096"/>
          </a:xfrm>
          <a:prstGeom prst="rect">
            <a:avLst/>
          </a:prstGeom>
          <a:solidFill>
            <a:srgbClr val="1A0A08"/>
          </a:solidFill>
          <a:ln w="6350">
            <a:solidFill>
              <a:srgbClr val="E887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0688" y="37124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CONTINGENCY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790688" y="389534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 can run 6 months before automation is critical.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4608576"/>
            <a:ext cx="11457432" cy="9144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608576"/>
            <a:ext cx="11457432" cy="32004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681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DealerOS paid conversion &lt;10%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9743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8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US: SaaS revenue thesis fails; need to pivot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37560" y="4681728"/>
            <a:ext cx="4206240" cy="768096"/>
          </a:xfrm>
          <a:prstGeom prst="rect">
            <a:avLst/>
          </a:prstGeom>
          <a:solidFill>
            <a:srgbClr val="0A2A14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1568" y="470001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401568" y="4882896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data (82% margin) is immediately viable. Shift resources there.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726680" y="4681728"/>
            <a:ext cx="4114800" cy="768096"/>
          </a:xfrm>
          <a:prstGeom prst="rect">
            <a:avLst/>
          </a:prstGeom>
          <a:solidFill>
            <a:srgbClr val="1A0A08"/>
          </a:solidFill>
          <a:ln w="6350">
            <a:solidFill>
              <a:srgbClr val="E887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90688" y="470001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CONTINGENCY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790688" y="488289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conversion &lt;10% by Month 6, pivot to B2B-first and sell DealerOS data, not software.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5596128"/>
            <a:ext cx="11457432" cy="9144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5596128"/>
            <a:ext cx="11457432" cy="3200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5669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Large competitor copies DealerOS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59618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8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US: Commoditise our supply-side moat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337560" y="5669280"/>
            <a:ext cx="4206240" cy="768096"/>
          </a:xfrm>
          <a:prstGeom prst="rect">
            <a:avLst/>
          </a:prstGeom>
          <a:solidFill>
            <a:srgbClr val="0A2A14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01568" y="56875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01568" y="587044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advantage is 12+ months ahead. Free tier makes switching cost ₹0 to stay.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726680" y="5669280"/>
            <a:ext cx="4114800" cy="768096"/>
          </a:xfrm>
          <a:prstGeom prst="rect">
            <a:avLst/>
          </a:prstGeom>
          <a:solidFill>
            <a:srgbClr val="1A0A08"/>
          </a:solidFill>
          <a:ln w="6350">
            <a:solidFill>
              <a:srgbClr val="E887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90688" y="568756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CONTINGENCY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790688" y="587044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on DemandPulse B2B — impossible to copy without 18 months of data.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—  90-DAY EXECUTION SPRINT  ·  FROM TODAY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 90 DAYS DECIDE EVERYTHING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3794760" cy="48463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3794760" cy="32004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627632"/>
            <a:ext cx="3575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1–30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883664"/>
            <a:ext cx="3575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the Foundation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3611880" cy="786384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67712"/>
            <a:ext cx="36576" cy="786384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3225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CTO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57860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Shortlist 5, interview 3, hire 1. Non-negotiable — block calendar for this.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611880" cy="786384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36576" cy="786384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setup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419856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Pvt Ltd incorporation, co-founder agreements, ESOP pool, IP assignment.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950208"/>
            <a:ext cx="3611880" cy="786384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50208"/>
            <a:ext cx="36576" cy="786384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0050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free tier live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426110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50 dealers in Mumbai. Get 10 using it daily.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791456"/>
            <a:ext cx="3611880" cy="786384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791456"/>
            <a:ext cx="36576" cy="786384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84632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prospect list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510235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25 target banks/insurers. Get warm intros from network. 5 meetings booked.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5632704"/>
            <a:ext cx="3611880" cy="786384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632704"/>
            <a:ext cx="36576" cy="786384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56875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Parivahan API application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API access request. Start manual pipeline as fallback.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15968" y="1572768"/>
            <a:ext cx="3794760" cy="48463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15968" y="1572768"/>
            <a:ext cx="3794760" cy="32004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1627632"/>
            <a:ext cx="3575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31–60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25696" y="1883664"/>
            <a:ext cx="3575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 Revenue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407408" y="2267712"/>
            <a:ext cx="3611880" cy="786384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07408" y="2267712"/>
            <a:ext cx="36576" cy="786384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36" name="Text 34"/>
          <p:cNvSpPr/>
          <p:nvPr/>
        </p:nvSpPr>
        <p:spPr>
          <a:xfrm>
            <a:off x="4517136" y="23225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B2B pilot contracts signed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17136" y="257860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₹50K/mo each = ₹1.5L MRR. Do not chase big contracts yet.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407408" y="3108960"/>
            <a:ext cx="3611880" cy="786384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07408" y="3108960"/>
            <a:ext cx="36576" cy="786384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40" name="Text 38"/>
          <p:cNvSpPr/>
          <p:nvPr/>
        </p:nvSpPr>
        <p:spPr>
          <a:xfrm>
            <a:off x="4517136" y="316382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dealers on DealerOS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17136" y="3419856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 + Delhi. 10% paying = 20 dealers × ₹999 = ₹20K MRR.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407408" y="3950208"/>
            <a:ext cx="3611880" cy="786384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07408" y="3950208"/>
            <a:ext cx="36576" cy="786384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44" name="Text 42"/>
          <p:cNvSpPr/>
          <p:nvPr/>
        </p:nvSpPr>
        <p:spPr>
          <a:xfrm>
            <a:off x="4517136" y="40050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 MVP live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17136" y="426110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+ OBD-II data. First 20 reports. Charge ₹299 (introductory).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07408" y="4791456"/>
            <a:ext cx="3611880" cy="786384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07408" y="4791456"/>
            <a:ext cx="36576" cy="786384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48" name="Text 46"/>
          <p:cNvSpPr/>
          <p:nvPr/>
        </p:nvSpPr>
        <p:spPr>
          <a:xfrm>
            <a:off x="4517136" y="484632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NPS survey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17136" y="510235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dealers what they need most. Build ruthlessly for that one thing.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407408" y="5632704"/>
            <a:ext cx="3611880" cy="786384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07408" y="5632704"/>
            <a:ext cx="36576" cy="786384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52" name="Text 50"/>
          <p:cNvSpPr/>
          <p:nvPr/>
        </p:nvSpPr>
        <p:spPr>
          <a:xfrm>
            <a:off x="4517136" y="56875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deck v1.0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17136" y="594360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investor narrative now — forces clarity on what metrics matter.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266176" y="1572768"/>
            <a:ext cx="3794760" cy="48463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66176" y="1572768"/>
            <a:ext cx="379476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6" name="Text 54"/>
          <p:cNvSpPr/>
          <p:nvPr/>
        </p:nvSpPr>
        <p:spPr>
          <a:xfrm>
            <a:off x="8375904" y="1627632"/>
            <a:ext cx="3575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61–90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375904" y="1883664"/>
            <a:ext cx="3575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 the Model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357616" y="2267712"/>
            <a:ext cx="3611880" cy="786384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57616" y="2267712"/>
            <a:ext cx="36576" cy="78638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0" name="Text 58"/>
          <p:cNvSpPr/>
          <p:nvPr/>
        </p:nvSpPr>
        <p:spPr>
          <a:xfrm>
            <a:off x="8467344" y="23225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paid tier launch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467344" y="257860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tier ₹999. Target 50 paying dealers. First ₹50K MRR from SaaS.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357616" y="3108960"/>
            <a:ext cx="3611880" cy="786384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57616" y="3108960"/>
            <a:ext cx="36576" cy="78638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4" name="Text 62"/>
          <p:cNvSpPr/>
          <p:nvPr/>
        </p:nvSpPr>
        <p:spPr>
          <a:xfrm>
            <a:off x="8467344" y="316382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B2B pilots → contracts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467344" y="3419856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pilots to annual ₹3L contracts. First ₹15L ARR from B2B.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357616" y="3950208"/>
            <a:ext cx="3611880" cy="786384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57616" y="3950208"/>
            <a:ext cx="36576" cy="78638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8" name="Text 66"/>
          <p:cNvSpPr/>
          <p:nvPr/>
        </p:nvSpPr>
        <p:spPr>
          <a:xfrm>
            <a:off x="8467344" y="40050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program live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467344" y="426110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₹2,000 incentive per dealer referral. Target 30 referrals in 30 days.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357616" y="4791456"/>
            <a:ext cx="3611880" cy="786384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57616" y="4791456"/>
            <a:ext cx="36576" cy="78638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2" name="Text 70"/>
          <p:cNvSpPr/>
          <p:nvPr/>
        </p:nvSpPr>
        <p:spPr>
          <a:xfrm>
            <a:off x="8467344" y="484632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 financial review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467344" y="510235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vs. plan. Kill anything not working. Double down on what is.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357616" y="5632704"/>
            <a:ext cx="3611880" cy="786384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357616" y="5632704"/>
            <a:ext cx="36576" cy="78638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6" name="Text 74"/>
          <p:cNvSpPr/>
          <p:nvPr/>
        </p:nvSpPr>
        <p:spPr>
          <a:xfrm>
            <a:off x="8467344" y="56875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outreach begins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467344" y="594360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target angels contacted. Use real metrics from 90-day sprint.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65760" y="6492240"/>
            <a:ext cx="11457432" cy="22860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5760" y="6492240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0" name="Text 78"/>
          <p:cNvSpPr/>
          <p:nvPr/>
        </p:nvSpPr>
        <p:spPr>
          <a:xfrm>
            <a:off x="502920" y="6528816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RULE: Review cash position every Friday. If burn exceeds plan by &gt;10% in any month, hold a crisis meeting Monday. No exceptions. Discipline in months 1–3 determines whether we survive.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813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615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9436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118872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178308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37744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297180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356616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16052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75488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34924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594360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53796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57200"/>
            <a:ext cx="1127455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—  CFO NORTH STAR  ·  THE ONLY METRICS THAT MATTER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0" y="1005840"/>
            <a:ext cx="12188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10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 CR IS NOT A LIMITATION.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0" y="1691640"/>
            <a:ext cx="12188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THE CONSTRAINT THAT BUILDS DISCIPLINE.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365760" y="2487168"/>
            <a:ext cx="3794760" cy="155448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487168"/>
            <a:ext cx="3794760" cy="32004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262432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5</a:t>
            </a:r>
            <a:endParaRPr lang="en-US" sz="3400" dirty="0"/>
          </a:p>
        </p:txBody>
      </p:sp>
      <p:sp>
        <p:nvSpPr>
          <p:cNvPr id="40" name="Text 38"/>
          <p:cNvSpPr/>
          <p:nvPr/>
        </p:nvSpPr>
        <p:spPr>
          <a:xfrm>
            <a:off x="365760" y="33101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cash-flow positive month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15968" y="2487168"/>
            <a:ext cx="3794760" cy="155448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15968" y="2487168"/>
            <a:ext cx="3794760" cy="3200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43" name="Text 41"/>
          <p:cNvSpPr/>
          <p:nvPr/>
        </p:nvSpPr>
        <p:spPr>
          <a:xfrm>
            <a:off x="4315968" y="262432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₹400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4315968" y="33101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blended CAC (organic)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66176" y="2487168"/>
            <a:ext cx="3794760" cy="155448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66176" y="2487168"/>
            <a:ext cx="379476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7" name="Text 45"/>
          <p:cNvSpPr/>
          <p:nvPr/>
        </p:nvSpPr>
        <p:spPr>
          <a:xfrm>
            <a:off x="8266176" y="262432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69x</a:t>
            </a:r>
            <a:endParaRPr lang="en-US" sz="3400" dirty="0"/>
          </a:p>
        </p:txBody>
      </p:sp>
      <p:sp>
        <p:nvSpPr>
          <p:cNvPr id="48" name="Text 46"/>
          <p:cNvSpPr/>
          <p:nvPr/>
        </p:nvSpPr>
        <p:spPr>
          <a:xfrm>
            <a:off x="8266176" y="33101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LTV:CAC ratio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178808"/>
            <a:ext cx="3794760" cy="155448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4178808"/>
            <a:ext cx="379476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31596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₹15 Cr</a:t>
            </a:r>
            <a:endParaRPr lang="en-US" sz="3400" dirty="0"/>
          </a:p>
        </p:txBody>
      </p:sp>
      <p:sp>
        <p:nvSpPr>
          <p:cNvPr id="52" name="Text 50"/>
          <p:cNvSpPr/>
          <p:nvPr/>
        </p:nvSpPr>
        <p:spPr>
          <a:xfrm>
            <a:off x="365760" y="50017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when we raise Seed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315968" y="4178808"/>
            <a:ext cx="3794760" cy="155448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15968" y="4178808"/>
            <a:ext cx="3794760" cy="32004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55" name="Text 53"/>
          <p:cNvSpPr/>
          <p:nvPr/>
        </p:nvSpPr>
        <p:spPr>
          <a:xfrm>
            <a:off x="4315968" y="431596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₹7.18 Cr</a:t>
            </a:r>
            <a:endParaRPr lang="en-US" sz="3400" dirty="0"/>
          </a:p>
        </p:txBody>
      </p:sp>
      <p:sp>
        <p:nvSpPr>
          <p:cNvPr id="56" name="Text 54"/>
          <p:cNvSpPr/>
          <p:nvPr/>
        </p:nvSpPr>
        <p:spPr>
          <a:xfrm>
            <a:off x="4315968" y="50017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at end of Year 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66176" y="4178808"/>
            <a:ext cx="3794760" cy="155448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66176" y="4178808"/>
            <a:ext cx="3794760" cy="32004"/>
          </a:xfrm>
          <a:prstGeom prst="rect">
            <a:avLst/>
          </a:prstGeom>
          <a:solidFill>
            <a:srgbClr val="9B6DD4"/>
          </a:solidFill>
          <a:ln/>
        </p:spPr>
      </p:sp>
      <p:sp>
        <p:nvSpPr>
          <p:cNvPr id="59" name="Text 57"/>
          <p:cNvSpPr/>
          <p:nvPr/>
        </p:nvSpPr>
        <p:spPr>
          <a:xfrm>
            <a:off x="8266176" y="431596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6D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₹400 Cr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66176" y="50017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at Seed raise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5989320"/>
            <a:ext cx="11457432" cy="658368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" y="5989320"/>
            <a:ext cx="11457432" cy="2926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3" name="Text 61"/>
          <p:cNvSpPr/>
          <p:nvPr/>
        </p:nvSpPr>
        <p:spPr>
          <a:xfrm>
            <a:off x="502920" y="6035040"/>
            <a:ext cx="11183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rupee company I have built outperformed every funded competitor I competed against. Not because of money — because of discipline. ₹2 Cr with these unit economics is not a disadvantage. It is a 12-month proof point that no investor can argue with."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FINANCIAL PLAN  ·  CFO PREPARED  ·  CONFIDENTIAL  ·  FEB 2026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1091672" y="6583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14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6576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₹2 CR BOOTSTRAP PLAN  · 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2026-02-28T11:29:48Z</dcterms:created>
  <dcterms:modified xsi:type="dcterms:W3CDTF">2026-02-28T11:29:48Z</dcterms:modified>
</cp:coreProperties>
</file>