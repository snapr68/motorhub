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1216152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4" name="Shape 2"/>
          <p:cNvSpPr/>
          <p:nvPr/>
        </p:nvSpPr>
        <p:spPr>
          <a:xfrm>
            <a:off x="2432304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5" name="Shape 3"/>
          <p:cNvSpPr/>
          <p:nvPr/>
        </p:nvSpPr>
        <p:spPr>
          <a:xfrm>
            <a:off x="3648456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6" name="Shape 4"/>
          <p:cNvSpPr/>
          <p:nvPr/>
        </p:nvSpPr>
        <p:spPr>
          <a:xfrm>
            <a:off x="4864608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0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8" name="Shape 6"/>
          <p:cNvSpPr/>
          <p:nvPr/>
        </p:nvSpPr>
        <p:spPr>
          <a:xfrm>
            <a:off x="7296912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9" name="Shape 7"/>
          <p:cNvSpPr/>
          <p:nvPr/>
        </p:nvSpPr>
        <p:spPr>
          <a:xfrm>
            <a:off x="8513064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0" name="Shape 8"/>
          <p:cNvSpPr/>
          <p:nvPr/>
        </p:nvSpPr>
        <p:spPr>
          <a:xfrm>
            <a:off x="9729216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1" name="Shape 9"/>
          <p:cNvSpPr/>
          <p:nvPr/>
        </p:nvSpPr>
        <p:spPr>
          <a:xfrm>
            <a:off x="10945368" y="0"/>
            <a:ext cx="4572" cy="685800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143000"/>
            <a:ext cx="12188952" cy="4572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286000"/>
            <a:ext cx="12188952" cy="4572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88952" cy="4572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572000"/>
            <a:ext cx="12188952" cy="4572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715000"/>
            <a:ext cx="12188952" cy="4572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12801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 PRESENTATION  ·  FEBRUARY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164592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2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0" y="265176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VINCI</a:t>
            </a:r>
            <a:endParaRPr lang="en-US" sz="9600" dirty="0"/>
          </a:p>
        </p:txBody>
      </p:sp>
      <p:sp>
        <p:nvSpPr>
          <p:cNvPr id="20" name="Text 18"/>
          <p:cNvSpPr/>
          <p:nvPr/>
        </p:nvSpPr>
        <p:spPr>
          <a:xfrm>
            <a:off x="1828800" y="397764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AI-powered used car trust engine.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list cars — we solve the $83 billion problem everyone is ignoring.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4754880"/>
            <a:ext cx="20116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4754880"/>
            <a:ext cx="20116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828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$83B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5230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Size 2031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0" y="4754880"/>
            <a:ext cx="20116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4754880"/>
            <a:ext cx="20116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4828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657600" y="5230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Built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20116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54880"/>
            <a:ext cx="20116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828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17920" y="5230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Killer Features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778240" y="4754880"/>
            <a:ext cx="20116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4754880"/>
            <a:ext cx="20116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0" y="4828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26.85%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778240" y="5230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CAGR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0" y="6492240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—  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$36B TRUST DEFICIT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61872" y="685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used car market is $36B (2025) heading to $83B by 2031. Yet 70.83% is still controlled by unorganized local dealers. Online platforms are growing at 26.85% CAGR, but trust remains the #1 barrier.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10312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21031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96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Today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2423160"/>
            <a:ext cx="210312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423160"/>
            <a:ext cx="21031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496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$83B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97480" y="2935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 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210312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21031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56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26.85%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CAGR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97480" y="3383280"/>
            <a:ext cx="210312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3383280"/>
            <a:ext cx="21031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3456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70.83%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97480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Unorganized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0352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PAIN POINTS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874520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1874520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1965960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reliable vehicle history — 60%+ odometer tampering, no Carfax equivalent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2587752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2587752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2679192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transfer nightmare — takes 1–4 years, sellers face police &amp; criminal liability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3300984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3300984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60720" y="3392424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cost invisible — ₹6L price hides ₹1.8L/year in maintenance costs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0" y="4014216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4014216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60720" y="4105656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tools nonexistent — 70% manage inventory on WhatsApp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03520" y="4727448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4727448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4837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60720" y="4818888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Post-purchase void — platforms vanish the moment you buy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5440680"/>
            <a:ext cx="64008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5440680"/>
            <a:ext cx="45720" cy="621792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47" name="Text 45"/>
          <p:cNvSpPr/>
          <p:nvPr/>
        </p:nvSpPr>
        <p:spPr>
          <a:xfrm>
            <a:off x="5349240" y="5550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760720" y="5532120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Interstate purchase impossible — different tax, NOC, re-registration in every state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—  PLATFORM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204+ ROUTES, ONE PLATFORM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816352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28163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490472"/>
            <a:ext cx="2816352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BUYER SIDE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80+ consumer routes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2176272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176272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12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/showroom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" y="2523744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" y="2523744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03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/vehicle/[id]/true-cost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" y="2871216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" y="2871216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07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/vehicle/passport/[id]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" y="3218688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3218688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55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/vehicle/[id]/negotiate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" y="356616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027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" y="3913632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950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/wishlist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9768" y="4261104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/concierge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768" y="4608576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6451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" y="4956048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992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/my-account/*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9768" y="530352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340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9768" y="5650992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6875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/inspection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64408" y="1463040"/>
            <a:ext cx="2816352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4408" y="1463040"/>
            <a:ext cx="28163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Shape 37"/>
          <p:cNvSpPr/>
          <p:nvPr/>
        </p:nvSpPr>
        <p:spPr>
          <a:xfrm>
            <a:off x="3264408" y="1490472"/>
            <a:ext cx="2816352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3401568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 OS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01568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30+ dealer routes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74136" y="2176272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43" name="Shape 41"/>
          <p:cNvSpPr/>
          <p:nvPr/>
        </p:nvSpPr>
        <p:spPr>
          <a:xfrm>
            <a:off x="3374136" y="2176272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4" name="Text 42"/>
          <p:cNvSpPr/>
          <p:nvPr/>
        </p:nvSpPr>
        <p:spPr>
          <a:xfrm>
            <a:off x="3447288" y="2212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74136" y="2523744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46" name="Shape 44"/>
          <p:cNvSpPr/>
          <p:nvPr/>
        </p:nvSpPr>
        <p:spPr>
          <a:xfrm>
            <a:off x="3374136" y="2523744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5"/>
          <p:cNvSpPr/>
          <p:nvPr/>
        </p:nvSpPr>
        <p:spPr>
          <a:xfrm>
            <a:off x="3447288" y="25603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/inventory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74136" y="2871216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49" name="Shape 47"/>
          <p:cNvSpPr/>
          <p:nvPr/>
        </p:nvSpPr>
        <p:spPr>
          <a:xfrm>
            <a:off x="3374136" y="2871216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0" name="Text 48"/>
          <p:cNvSpPr/>
          <p:nvPr/>
        </p:nvSpPr>
        <p:spPr>
          <a:xfrm>
            <a:off x="3447288" y="2907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/leads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74136" y="3218688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52" name="Shape 50"/>
          <p:cNvSpPr/>
          <p:nvPr/>
        </p:nvSpPr>
        <p:spPr>
          <a:xfrm>
            <a:off x="3374136" y="3218688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Text 51"/>
          <p:cNvSpPr/>
          <p:nvPr/>
        </p:nvSpPr>
        <p:spPr>
          <a:xfrm>
            <a:off x="3447288" y="3255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/intelligence/*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74136" y="356616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5" name="Text 53"/>
          <p:cNvSpPr/>
          <p:nvPr/>
        </p:nvSpPr>
        <p:spPr>
          <a:xfrm>
            <a:off x="3447288" y="36027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/analytics/*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74136" y="3913632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7" name="Text 55"/>
          <p:cNvSpPr/>
          <p:nvPr/>
        </p:nvSpPr>
        <p:spPr>
          <a:xfrm>
            <a:off x="3447288" y="3950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/studio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74136" y="4261104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Text 57"/>
          <p:cNvSpPr/>
          <p:nvPr/>
        </p:nvSpPr>
        <p:spPr>
          <a:xfrm>
            <a:off x="3447288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/marketing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374136" y="4608576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1" name="Text 59"/>
          <p:cNvSpPr/>
          <p:nvPr/>
        </p:nvSpPr>
        <p:spPr>
          <a:xfrm>
            <a:off x="3447288" y="46451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/settings/*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74136" y="4956048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3" name="Text 61"/>
          <p:cNvSpPr/>
          <p:nvPr/>
        </p:nvSpPr>
        <p:spPr>
          <a:xfrm>
            <a:off x="3447288" y="4992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/dealer/signup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374136" y="530352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5" name="Text 63"/>
          <p:cNvSpPr/>
          <p:nvPr/>
        </p:nvSpPr>
        <p:spPr>
          <a:xfrm>
            <a:off x="3447288" y="5340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08776" y="1463040"/>
            <a:ext cx="2816352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08776" y="1463040"/>
            <a:ext cx="2816352" cy="2743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8" name="Shape 66"/>
          <p:cNvSpPr/>
          <p:nvPr/>
        </p:nvSpPr>
        <p:spPr>
          <a:xfrm>
            <a:off x="6208776" y="1490472"/>
            <a:ext cx="2816352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9" name="Text 67"/>
          <p:cNvSpPr/>
          <p:nvPr/>
        </p:nvSpPr>
        <p:spPr>
          <a:xfrm>
            <a:off x="6345936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345936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60+ SEO routes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318504" y="2176272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72" name="Shape 70"/>
          <p:cNvSpPr/>
          <p:nvPr/>
        </p:nvSpPr>
        <p:spPr>
          <a:xfrm>
            <a:off x="6318504" y="2176272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3" name="Text 71"/>
          <p:cNvSpPr/>
          <p:nvPr/>
        </p:nvSpPr>
        <p:spPr>
          <a:xfrm>
            <a:off x="6391656" y="2212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/[brand]/[model]/*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318504" y="2523744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75" name="Shape 73"/>
          <p:cNvSpPr/>
          <p:nvPr/>
        </p:nvSpPr>
        <p:spPr>
          <a:xfrm>
            <a:off x="6318504" y="2523744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6" name="Text 74"/>
          <p:cNvSpPr/>
          <p:nvPr/>
        </p:nvSpPr>
        <p:spPr>
          <a:xfrm>
            <a:off x="6391656" y="25603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/used-cars/[city]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318504" y="2871216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78" name="Shape 76"/>
          <p:cNvSpPr/>
          <p:nvPr/>
        </p:nvSpPr>
        <p:spPr>
          <a:xfrm>
            <a:off x="6318504" y="2871216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9" name="Text 77"/>
          <p:cNvSpPr/>
          <p:nvPr/>
        </p:nvSpPr>
        <p:spPr>
          <a:xfrm>
            <a:off x="6391656" y="2907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/dealers/[city]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318504" y="3218688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81" name="Shape 79"/>
          <p:cNvSpPr/>
          <p:nvPr/>
        </p:nvSpPr>
        <p:spPr>
          <a:xfrm>
            <a:off x="6318504" y="3218688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2" name="Text 80"/>
          <p:cNvSpPr/>
          <p:nvPr/>
        </p:nvSpPr>
        <p:spPr>
          <a:xfrm>
            <a:off x="6391656" y="3255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/compare/[a]-vs-[b]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318504" y="356616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4" name="Text 82"/>
          <p:cNvSpPr/>
          <p:nvPr/>
        </p:nvSpPr>
        <p:spPr>
          <a:xfrm>
            <a:off x="6391656" y="36027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/new-cars/*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318504" y="3913632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6" name="Text 84"/>
          <p:cNvSpPr/>
          <p:nvPr/>
        </p:nvSpPr>
        <p:spPr>
          <a:xfrm>
            <a:off x="6391656" y="3950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/electric-cars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318504" y="4261104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8" name="Text 86"/>
          <p:cNvSpPr/>
          <p:nvPr/>
        </p:nvSpPr>
        <p:spPr>
          <a:xfrm>
            <a:off x="6391656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/upcoming-cars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318504" y="4608576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0" name="Text 88"/>
          <p:cNvSpPr/>
          <p:nvPr/>
        </p:nvSpPr>
        <p:spPr>
          <a:xfrm>
            <a:off x="6391656" y="46451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/car-news/*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318504" y="4956048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2" name="Text 90"/>
          <p:cNvSpPr/>
          <p:nvPr/>
        </p:nvSpPr>
        <p:spPr>
          <a:xfrm>
            <a:off x="6391656" y="4992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/expert-reviews/*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318504" y="530352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4" name="Text 92"/>
          <p:cNvSpPr/>
          <p:nvPr/>
        </p:nvSpPr>
        <p:spPr>
          <a:xfrm>
            <a:off x="6391656" y="5340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/gaadi-store/[city]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153144" y="1463040"/>
            <a:ext cx="2816352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53144" y="1463040"/>
            <a:ext cx="2816352" cy="2743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7" name="Shape 95"/>
          <p:cNvSpPr/>
          <p:nvPr/>
        </p:nvSpPr>
        <p:spPr>
          <a:xfrm>
            <a:off x="9153144" y="1490472"/>
            <a:ext cx="2816352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8" name="Text 96"/>
          <p:cNvSpPr/>
          <p:nvPr/>
        </p:nvSpPr>
        <p:spPr>
          <a:xfrm>
            <a:off x="9290304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 &amp; TOOLS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9290304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+ utility routes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262872" y="2176272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01" name="Shape 99"/>
          <p:cNvSpPr/>
          <p:nvPr/>
        </p:nvSpPr>
        <p:spPr>
          <a:xfrm>
            <a:off x="9262872" y="2176272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2" name="Text 100"/>
          <p:cNvSpPr/>
          <p:nvPr/>
        </p:nvSpPr>
        <p:spPr>
          <a:xfrm>
            <a:off x="9336024" y="2212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/rc-transfer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262872" y="2523744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262872" y="2523744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5" name="Text 103"/>
          <p:cNvSpPr/>
          <p:nvPr/>
        </p:nvSpPr>
        <p:spPr>
          <a:xfrm>
            <a:off x="9336024" y="25603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/cross-state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9262872" y="2871216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262872" y="2871216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8" name="Text 106"/>
          <p:cNvSpPr/>
          <p:nvPr/>
        </p:nvSpPr>
        <p:spPr>
          <a:xfrm>
            <a:off x="9336024" y="2907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/car-loan/*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9262872" y="3218688"/>
            <a:ext cx="2596896" cy="274320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262872" y="3218688"/>
            <a:ext cx="27432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1" name="Text 109"/>
          <p:cNvSpPr/>
          <p:nvPr/>
        </p:nvSpPr>
        <p:spPr>
          <a:xfrm>
            <a:off x="9336024" y="3255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/car-insurance/*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9262872" y="356616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3" name="Text 111"/>
          <p:cNvSpPr/>
          <p:nvPr/>
        </p:nvSpPr>
        <p:spPr>
          <a:xfrm>
            <a:off x="9336024" y="36027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/fuel-price/[city]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9262872" y="3913632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5" name="Text 113"/>
          <p:cNvSpPr/>
          <p:nvPr/>
        </p:nvSpPr>
        <p:spPr>
          <a:xfrm>
            <a:off x="9336024" y="3950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/rto/[state]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262872" y="4261104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7" name="Text 115"/>
          <p:cNvSpPr/>
          <p:nvPr/>
        </p:nvSpPr>
        <p:spPr>
          <a:xfrm>
            <a:off x="9336024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/my-account/garage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9262872" y="4608576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9" name="Text 117"/>
          <p:cNvSpPr/>
          <p:nvPr/>
        </p:nvSpPr>
        <p:spPr>
          <a:xfrm>
            <a:off x="9336024" y="46451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/my-account/warranty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9262872" y="4956048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1" name="Text 119"/>
          <p:cNvSpPr/>
          <p:nvPr/>
        </p:nvSpPr>
        <p:spPr>
          <a:xfrm>
            <a:off x="9336024" y="4992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/my-account/documents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9262872" y="5303520"/>
            <a:ext cx="259689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3" name="Text 121"/>
          <p:cNvSpPr/>
          <p:nvPr/>
        </p:nvSpPr>
        <p:spPr>
          <a:xfrm>
            <a:off x="9336024" y="5340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/my-account/resale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20040" y="5897880"/>
            <a:ext cx="2240280" cy="685800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0040" y="59253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204+</a:t>
            </a:r>
            <a:endParaRPr lang="en-US" sz="2200" dirty="0"/>
          </a:p>
        </p:txBody>
      </p:sp>
      <p:sp>
        <p:nvSpPr>
          <p:cNvPr id="126" name="Text 124"/>
          <p:cNvSpPr/>
          <p:nvPr/>
        </p:nvSpPr>
        <p:spPr>
          <a:xfrm>
            <a:off x="320040" y="6254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Routes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697480" y="5897880"/>
            <a:ext cx="2240280" cy="685800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697480" y="59253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2200" dirty="0"/>
          </a:p>
        </p:txBody>
      </p:sp>
      <p:sp>
        <p:nvSpPr>
          <p:cNvPr id="129" name="Text 127"/>
          <p:cNvSpPr/>
          <p:nvPr/>
        </p:nvSpPr>
        <p:spPr>
          <a:xfrm>
            <a:off x="2697480" y="6254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Endpoints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5074920" y="5897880"/>
            <a:ext cx="2240280" cy="685800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074920" y="59253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75+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5074920" y="6254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Screens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7452360" y="5897880"/>
            <a:ext cx="2240280" cy="685800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452360" y="59253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159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7452360" y="6254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Pages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9829800" y="5897880"/>
            <a:ext cx="2240280" cy="685800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829800" y="59253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138" name="Text 136"/>
          <p:cNvSpPr/>
          <p:nvPr/>
        </p:nvSpPr>
        <p:spPr>
          <a:xfrm>
            <a:off x="9829800" y="6254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Errors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—  COMPETITIVE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FEATURES NOBODY ELSE BUILT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240280" cy="36576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581912"/>
            <a:ext cx="658368" cy="20116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5819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vehicle history — Vahan API, OEM service records, insurance claims, OBD-II ECU scan vs. odometer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5204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₹499/report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150876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508760"/>
            <a:ext cx="2240280" cy="36576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1581912"/>
            <a:ext cx="658368" cy="20116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15819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8892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TrueCost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21945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3-year ownership cost predictor — maintenance forecast, known defects, real-world fuel, insurance, depreciation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88920" y="352044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35204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Drives conversion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74920" y="150876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1508760"/>
            <a:ext cx="2240280" cy="36576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37960" y="1581912"/>
            <a:ext cx="658368" cy="20116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5819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InstantRC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21945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Escrow-based RC transfer with instant seller indemnity, automated Parivahan tracking, RTO agent network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66360" y="352044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5204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₹999 policy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52360" y="150876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1508760"/>
            <a:ext cx="2240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Text 33"/>
          <p:cNvSpPr/>
          <p:nvPr/>
        </p:nvSpPr>
        <p:spPr>
          <a:xfrm>
            <a:off x="754380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15400" y="158191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37" name="Text 35"/>
          <p:cNvSpPr/>
          <p:nvPr/>
        </p:nvSpPr>
        <p:spPr>
          <a:xfrm>
            <a:off x="8915400" y="15819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4380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43800" y="21945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SaaS for unorganized dealers — AI listing gen, dynamic pricing, embedded financing, digital storefront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43800" y="352044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35204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₹2,999/mo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829800" y="150876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29800" y="1508760"/>
            <a:ext cx="2240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4" name="Text 42"/>
          <p:cNvSpPr/>
          <p:nvPr/>
        </p:nvSpPr>
        <p:spPr>
          <a:xfrm>
            <a:off x="992124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292840" y="158191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46" name="Text 44"/>
          <p:cNvSpPr/>
          <p:nvPr/>
        </p:nvSpPr>
        <p:spPr>
          <a:xfrm>
            <a:off x="11292840" y="15819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92124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921240" y="21945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car exchange marketplace — match buyers/sellers swapping, value gap calc, dual escrow, simultaneous RC transfer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921240" y="352044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50" name="Text 48"/>
          <p:cNvSpPr/>
          <p:nvPr/>
        </p:nvSpPr>
        <p:spPr>
          <a:xfrm>
            <a:off x="9921240" y="35204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2–3% txn fee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040" y="397764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977640"/>
            <a:ext cx="2240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783080" y="405079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55" name="Text 53"/>
          <p:cNvSpPr/>
          <p:nvPr/>
        </p:nvSpPr>
        <p:spPr>
          <a:xfrm>
            <a:off x="1783080" y="40507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" y="4306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11480" y="46634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Uber-like independent mechanic network — 2-hour booking, live video stream, 250-point digital report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598932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59" name="Text 57"/>
          <p:cNvSpPr/>
          <p:nvPr/>
        </p:nvSpPr>
        <p:spPr>
          <a:xfrm>
            <a:off x="411480" y="598932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₹999–₹1,999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697480" y="397764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97480" y="3977640"/>
            <a:ext cx="2240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2" name="Text 60"/>
          <p:cNvSpPr/>
          <p:nvPr/>
        </p:nvSpPr>
        <p:spPr>
          <a:xfrm>
            <a:off x="278892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160520" y="405079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64" name="Text 62"/>
          <p:cNvSpPr/>
          <p:nvPr/>
        </p:nvSpPr>
        <p:spPr>
          <a:xfrm>
            <a:off x="4160520" y="40507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88920" y="4306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CrossState Express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2788920" y="46634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Interstate purchase end-to-end — landed cost calc, document autopilot, flatbed delivery, single-window payment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88920" y="598932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68" name="Text 66"/>
          <p:cNvSpPr/>
          <p:nvPr/>
        </p:nvSpPr>
        <p:spPr>
          <a:xfrm>
            <a:off x="2788920" y="598932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+ logistics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74920" y="397764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74920" y="3977640"/>
            <a:ext cx="2240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1" name="Text 69"/>
          <p:cNvSpPr/>
          <p:nvPr/>
        </p:nvSpPr>
        <p:spPr>
          <a:xfrm>
            <a:off x="516636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537960" y="405079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73" name="Text 71"/>
          <p:cNvSpPr/>
          <p:nvPr/>
        </p:nvSpPr>
        <p:spPr>
          <a:xfrm>
            <a:off x="6537960" y="40507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66360" y="4306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PostPurchase Hub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166360" y="46634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companion from day 1 — warranty tracker, service scheduler, insurance renewal, resale value monitor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66360" y="598932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77" name="Text 75"/>
          <p:cNvSpPr/>
          <p:nvPr/>
        </p:nvSpPr>
        <p:spPr>
          <a:xfrm>
            <a:off x="5166360" y="598932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 retention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452360" y="397764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52360" y="3977640"/>
            <a:ext cx="2240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Text 78"/>
          <p:cNvSpPr/>
          <p:nvPr/>
        </p:nvSpPr>
        <p:spPr>
          <a:xfrm>
            <a:off x="754380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#09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8915400" y="405079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82" name="Text 80"/>
          <p:cNvSpPr/>
          <p:nvPr/>
        </p:nvSpPr>
        <p:spPr>
          <a:xfrm>
            <a:off x="8915400" y="40507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43800" y="4306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NegotiationCoach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7543800" y="46634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Buyer's secret weapon — fair price range, negotiation scripts, walk-away alerts, post-deal validation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543800" y="598932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86" name="Text 84"/>
          <p:cNvSpPr/>
          <p:nvPr/>
        </p:nvSpPr>
        <p:spPr>
          <a:xfrm>
            <a:off x="7543800" y="598932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 loyalty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829800" y="3977640"/>
            <a:ext cx="2240280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29800" y="3977640"/>
            <a:ext cx="2240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9" name="Text 87"/>
          <p:cNvSpPr/>
          <p:nvPr/>
        </p:nvSpPr>
        <p:spPr>
          <a:xfrm>
            <a:off x="992124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1292840" y="4050792"/>
            <a:ext cx="658368" cy="201168"/>
          </a:xfrm>
          <a:prstGeom prst="rect">
            <a:avLst/>
          </a:prstGeom>
          <a:solidFill>
            <a:srgbClr val="1A1508"/>
          </a:solidFill>
          <a:ln/>
        </p:spPr>
      </p:sp>
      <p:sp>
        <p:nvSpPr>
          <p:cNvPr id="91" name="Text 89"/>
          <p:cNvSpPr/>
          <p:nvPr/>
        </p:nvSpPr>
        <p:spPr>
          <a:xfrm>
            <a:off x="11292840" y="40507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921240" y="4306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9921240" y="46634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Terminal for used cars — real-time pricing, demand heatmaps, depreciation curves, B2B API for banks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9921240" y="5989320"/>
            <a:ext cx="2057400" cy="201168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95" name="Text 93"/>
          <p:cNvSpPr/>
          <p:nvPr/>
        </p:nvSpPr>
        <p:spPr>
          <a:xfrm>
            <a:off x="9921240" y="598932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₹9,999/mo API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—  COMPETITIVE 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LISTING PLATFORM.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TRUST ENGINE.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30352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4572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83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Network Effect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inspection, VehiclePassport, and transaction enriches the database. More data → better AI pricing → stronger trust → more transactions. Cannot be fast-followed.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862072"/>
            <a:ext cx="530352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62072"/>
            <a:ext cx="4572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535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Lock-In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unorganized dealers use our free DealerOS tools, they list with us first. Controlling 70% of supply means we control price discovery for the entire market.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032504"/>
            <a:ext cx="530352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032504"/>
            <a:ext cx="4572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123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Buyer Relationship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41655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PostPurchase Hub keeps us in the buyer's life from day 1 to resale. When they sell, they sell through us. When they buy next, they buy through us.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5202936"/>
            <a:ext cx="530352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5202936"/>
            <a:ext cx="4572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294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58698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InstantRC + VehiclePassport require deep integrations with Vahan/Parivahan, OEM portals, insurance aggregators, and RTO networks — 12–18 months to build.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6002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COMPARISON MATRIX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920240"/>
            <a:ext cx="5760720" cy="4754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2368296"/>
            <a:ext cx="576072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011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78240" y="2011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33272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2432304"/>
            <a:ext cx="5760720" cy="475488"/>
          </a:xfrm>
          <a:prstGeom prst="rect">
            <a:avLst/>
          </a:prstGeom>
          <a:solidFill>
            <a:srgbClr val="131313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523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History (Carfax-equiv)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78240" y="25237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5237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944368"/>
            <a:ext cx="5760720" cy="4754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Cost Predictor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0" y="3035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30358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456432"/>
            <a:ext cx="5760720" cy="475488"/>
          </a:xfrm>
          <a:prstGeom prst="rect">
            <a:avLst/>
          </a:prstGeom>
          <a:solidFill>
            <a:srgbClr val="131313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547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Transfer Guarantee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78240" y="3547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only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0" y="3547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Proactive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3968496"/>
            <a:ext cx="5760720" cy="4754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40599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SaaS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0" y="4059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32720" y="40599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4480560"/>
            <a:ext cx="5760720" cy="475488"/>
          </a:xfrm>
          <a:prstGeom prst="rect">
            <a:avLst/>
          </a:prstGeom>
          <a:solidFill>
            <a:srgbClr val="131313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API (DemandPulse)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0" y="45720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32720" y="4572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4992624"/>
            <a:ext cx="5760720" cy="4754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50840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Post-Purchase Hub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778240" y="5084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332720" y="50840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26480" y="5504688"/>
            <a:ext cx="5760720" cy="475488"/>
          </a:xfrm>
          <a:prstGeom prst="rect">
            <a:avLst/>
          </a:prstGeom>
          <a:solidFill>
            <a:srgbClr val="131313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0" y="5596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Car Swap Marketplace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78240" y="5596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332720" y="5596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26480" y="6016752"/>
            <a:ext cx="5760720" cy="658368"/>
          </a:xfrm>
          <a:prstGeom prst="rect">
            <a:avLst/>
          </a:prstGeom>
          <a:solidFill>
            <a:srgbClr val="2222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6053328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"CardDekho is an information portal. Cars24 is a transaction platform. OLX is a classifieds board. None of them are a Trust Engine. That's the gap."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—  COMPETITIVE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RANKING BY TRUST SCORE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across 6 dimensions: Trust Infrastructure · Dealer Tools · Buyer AI · Data Intelligence · Post-Purchase · Market Coverage  (Score / 100)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11640312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947672"/>
            <a:ext cx="1164031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6420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16642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77440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0" y="16642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77840" y="16642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55080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POST-BUY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69480" y="16642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 GAP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11640312" cy="594360"/>
          </a:xfrm>
          <a:prstGeom prst="rect">
            <a:avLst/>
          </a:prstGeom>
          <a:solidFill>
            <a:srgbClr val="141008"/>
          </a:solidFill>
          <a:ln w="6350">
            <a:solidFill>
              <a:srgbClr val="7A62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011680"/>
            <a:ext cx="36576" cy="5943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310896" y="2121408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06654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Autovinci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32257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Trust Engine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0" y="21214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46120" y="20848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41401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2414016"/>
            <a:ext cx="521574" cy="9144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0848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69080" y="241401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9080" y="2414016"/>
            <a:ext cx="481889" cy="9144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848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41401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2414016"/>
            <a:ext cx="510235" cy="9144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20848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23560" y="241401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2414016"/>
            <a:ext cx="498897" cy="9144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084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2414016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2414016"/>
            <a:ext cx="544068" cy="91440"/>
          </a:xfrm>
          <a:prstGeom prst="rect">
            <a:avLst/>
          </a:prstGeom>
          <a:solidFill>
            <a:srgbClr val="3DBE72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21579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need live data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2642616"/>
            <a:ext cx="11640312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2752344"/>
            <a:ext cx="347472" cy="347472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43" name="Text 41"/>
          <p:cNvSpPr/>
          <p:nvPr/>
        </p:nvSpPr>
        <p:spPr>
          <a:xfrm>
            <a:off x="310896" y="2752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1520" y="26974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Cars24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29535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C2B Inventory Platform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377440" y="27523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246120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304495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3291840" y="3044952"/>
            <a:ext cx="311810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50" name="Text 48"/>
          <p:cNvSpPr/>
          <p:nvPr/>
        </p:nvSpPr>
        <p:spPr>
          <a:xfrm>
            <a:off x="4023360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69080" y="304495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2" name="Shape 50"/>
          <p:cNvSpPr/>
          <p:nvPr/>
        </p:nvSpPr>
        <p:spPr>
          <a:xfrm>
            <a:off x="4069080" y="3044952"/>
            <a:ext cx="226771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304495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3044952"/>
            <a:ext cx="328818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56" name="Text 54"/>
          <p:cNvSpPr/>
          <p:nvPr/>
        </p:nvSpPr>
        <p:spPr>
          <a:xfrm>
            <a:off x="5577840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23560" y="304495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8" name="Shape 56"/>
          <p:cNvSpPr/>
          <p:nvPr/>
        </p:nvSpPr>
        <p:spPr>
          <a:xfrm>
            <a:off x="5623560" y="3044952"/>
            <a:ext cx="408188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9" name="Text 57"/>
          <p:cNvSpPr/>
          <p:nvPr/>
        </p:nvSpPr>
        <p:spPr>
          <a:xfrm>
            <a:off x="6355080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3044952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1" name="Shape 59"/>
          <p:cNvSpPr/>
          <p:nvPr/>
        </p:nvSpPr>
        <p:spPr>
          <a:xfrm>
            <a:off x="6400800" y="3044952"/>
            <a:ext cx="224028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0" y="2788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vehicle history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3273552"/>
            <a:ext cx="11640312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0896" y="3383280"/>
            <a:ext cx="347472" cy="347472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65" name="Text 63"/>
          <p:cNvSpPr/>
          <p:nvPr/>
        </p:nvSpPr>
        <p:spPr>
          <a:xfrm>
            <a:off x="310896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31520" y="33284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CarWale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1520" y="35844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+ Marketplace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377440" y="3383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324612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91840" y="3675888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1" name="Shape 69"/>
          <p:cNvSpPr/>
          <p:nvPr/>
        </p:nvSpPr>
        <p:spPr>
          <a:xfrm>
            <a:off x="3291840" y="3675888"/>
            <a:ext cx="238110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72" name="Text 70"/>
          <p:cNvSpPr/>
          <p:nvPr/>
        </p:nvSpPr>
        <p:spPr>
          <a:xfrm>
            <a:off x="402336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069080" y="3675888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4" name="Shape 72"/>
          <p:cNvSpPr/>
          <p:nvPr/>
        </p:nvSpPr>
        <p:spPr>
          <a:xfrm>
            <a:off x="4069080" y="3675888"/>
            <a:ext cx="311810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75" name="Text 73"/>
          <p:cNvSpPr/>
          <p:nvPr/>
        </p:nvSpPr>
        <p:spPr>
          <a:xfrm>
            <a:off x="480060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846320" y="3675888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7" name="Shape 75"/>
          <p:cNvSpPr/>
          <p:nvPr/>
        </p:nvSpPr>
        <p:spPr>
          <a:xfrm>
            <a:off x="4846320" y="3675888"/>
            <a:ext cx="351495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8" name="Text 76"/>
          <p:cNvSpPr/>
          <p:nvPr/>
        </p:nvSpPr>
        <p:spPr>
          <a:xfrm>
            <a:off x="5577840" y="33467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623560" y="3675888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0" name="Shape 78"/>
          <p:cNvSpPr/>
          <p:nvPr/>
        </p:nvSpPr>
        <p:spPr>
          <a:xfrm>
            <a:off x="5623560" y="3675888"/>
            <a:ext cx="340157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1" name="Text 79"/>
          <p:cNvSpPr/>
          <p:nvPr/>
        </p:nvSpPr>
        <p:spPr>
          <a:xfrm>
            <a:off x="6355080" y="3346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400800" y="3675888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3" name="Shape 81"/>
          <p:cNvSpPr/>
          <p:nvPr/>
        </p:nvSpPr>
        <p:spPr>
          <a:xfrm>
            <a:off x="6400800" y="3675888"/>
            <a:ext cx="192024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84" name="Text 82"/>
          <p:cNvSpPr/>
          <p:nvPr/>
        </p:nvSpPr>
        <p:spPr>
          <a:xfrm>
            <a:off x="7315200" y="34198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used car play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3904488"/>
            <a:ext cx="11640312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0896" y="4014216"/>
            <a:ext cx="347472" cy="347472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87" name="Text 85"/>
          <p:cNvSpPr/>
          <p:nvPr/>
        </p:nvSpPr>
        <p:spPr>
          <a:xfrm>
            <a:off x="310896" y="4014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31520" y="395935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CardDekho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31520" y="421538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+ Finance Portal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377440" y="40142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3246120" y="39776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291840" y="4306824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3" name="Shape 91"/>
          <p:cNvSpPr/>
          <p:nvPr/>
        </p:nvSpPr>
        <p:spPr>
          <a:xfrm>
            <a:off x="3291840" y="4306824"/>
            <a:ext cx="272125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94" name="Text 92"/>
          <p:cNvSpPr/>
          <p:nvPr/>
        </p:nvSpPr>
        <p:spPr>
          <a:xfrm>
            <a:off x="4023360" y="39776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069080" y="4306824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6" name="Shape 94"/>
          <p:cNvSpPr/>
          <p:nvPr/>
        </p:nvSpPr>
        <p:spPr>
          <a:xfrm>
            <a:off x="4069080" y="4306824"/>
            <a:ext cx="294803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97" name="Text 95"/>
          <p:cNvSpPr/>
          <p:nvPr/>
        </p:nvSpPr>
        <p:spPr>
          <a:xfrm>
            <a:off x="4800600" y="39776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846320" y="4306824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4306824"/>
            <a:ext cx="311810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00" name="Text 98"/>
          <p:cNvSpPr/>
          <p:nvPr/>
        </p:nvSpPr>
        <p:spPr>
          <a:xfrm>
            <a:off x="5577840" y="39776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623560" y="4306824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623560" y="4306824"/>
            <a:ext cx="340157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3" name="Text 101"/>
          <p:cNvSpPr/>
          <p:nvPr/>
        </p:nvSpPr>
        <p:spPr>
          <a:xfrm>
            <a:off x="635508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6400800" y="4306824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00800" y="4306824"/>
            <a:ext cx="179222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06" name="Text 104"/>
          <p:cNvSpPr/>
          <p:nvPr/>
        </p:nvSpPr>
        <p:spPr>
          <a:xfrm>
            <a:off x="7315200" y="4050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TrustMark is theater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74320" y="4535424"/>
            <a:ext cx="11640312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0896" y="4645152"/>
            <a:ext cx="347472" cy="347472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09" name="Text 107"/>
          <p:cNvSpPr/>
          <p:nvPr/>
        </p:nvSpPr>
        <p:spPr>
          <a:xfrm>
            <a:off x="310896" y="4645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731520" y="45902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Spinny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731520" y="48463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Used Car Retailer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2377440" y="4645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3246120" y="4608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3291840" y="4937760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291840" y="4937760"/>
            <a:ext cx="385511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6" name="Text 114"/>
          <p:cNvSpPr/>
          <p:nvPr/>
        </p:nvSpPr>
        <p:spPr>
          <a:xfrm>
            <a:off x="4023360" y="4608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4069080" y="4937760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069080" y="4937760"/>
            <a:ext cx="124724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19" name="Text 117"/>
          <p:cNvSpPr/>
          <p:nvPr/>
        </p:nvSpPr>
        <p:spPr>
          <a:xfrm>
            <a:off x="4800600" y="4608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846320" y="4937760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846320" y="4937760"/>
            <a:ext cx="294803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22" name="Text 120"/>
          <p:cNvSpPr/>
          <p:nvPr/>
        </p:nvSpPr>
        <p:spPr>
          <a:xfrm>
            <a:off x="5577840" y="4608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623560" y="4937760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623560" y="4937760"/>
            <a:ext cx="215433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25" name="Text 123"/>
          <p:cNvSpPr/>
          <p:nvPr/>
        </p:nvSpPr>
        <p:spPr>
          <a:xfrm>
            <a:off x="6355080" y="4608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6400800" y="4937760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400800" y="4937760"/>
            <a:ext cx="352044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28" name="Text 126"/>
          <p:cNvSpPr/>
          <p:nvPr/>
        </p:nvSpPr>
        <p:spPr>
          <a:xfrm>
            <a:off x="7315200" y="46817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Asset-heavy, limited scale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274320" y="5166360"/>
            <a:ext cx="11640312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0896" y="5276088"/>
            <a:ext cx="347472" cy="347472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1" name="Text 129"/>
          <p:cNvSpPr/>
          <p:nvPr/>
        </p:nvSpPr>
        <p:spPr>
          <a:xfrm>
            <a:off x="310896" y="5276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731520" y="522122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Droom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731520" y="54772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Car Classified + AI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377440" y="52760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1800" dirty="0"/>
          </a:p>
        </p:txBody>
      </p:sp>
      <p:sp>
        <p:nvSpPr>
          <p:cNvPr id="135" name="Text 133"/>
          <p:cNvSpPr/>
          <p:nvPr/>
        </p:nvSpPr>
        <p:spPr>
          <a:xfrm>
            <a:off x="3246120" y="52395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291840" y="556869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291840" y="5568696"/>
            <a:ext cx="283464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38" name="Text 136"/>
          <p:cNvSpPr/>
          <p:nvPr/>
        </p:nvSpPr>
        <p:spPr>
          <a:xfrm>
            <a:off x="4023360" y="52395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4069080" y="556869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4069080" y="5568696"/>
            <a:ext cx="272125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41" name="Text 139"/>
          <p:cNvSpPr/>
          <p:nvPr/>
        </p:nvSpPr>
        <p:spPr>
          <a:xfrm>
            <a:off x="4800600" y="52395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4846320" y="556869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846320" y="5568696"/>
            <a:ext cx="311810" cy="91440"/>
          </a:xfrm>
          <a:prstGeom prst="rect">
            <a:avLst/>
          </a:prstGeom>
          <a:solidFill>
            <a:srgbClr val="E8874A"/>
          </a:solidFill>
          <a:ln/>
        </p:spPr>
      </p:sp>
      <p:sp>
        <p:nvSpPr>
          <p:cNvPr id="144" name="Text 142"/>
          <p:cNvSpPr/>
          <p:nvPr/>
        </p:nvSpPr>
        <p:spPr>
          <a:xfrm>
            <a:off x="5577840" y="52395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5623560" y="5568696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623560" y="5568696"/>
            <a:ext cx="198425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47" name="Text 145"/>
          <p:cNvSpPr/>
          <p:nvPr/>
        </p:nvSpPr>
        <p:spPr>
          <a:xfrm>
            <a:off x="6355080" y="52395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6400800" y="5568696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400800" y="5568696"/>
            <a:ext cx="160020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50" name="Text 148"/>
          <p:cNvSpPr/>
          <p:nvPr/>
        </p:nvSpPr>
        <p:spPr>
          <a:xfrm>
            <a:off x="7315200" y="53126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growth stalled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74320" y="5797296"/>
            <a:ext cx="11640312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10896" y="5907024"/>
            <a:ext cx="347472" cy="347472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53" name="Text 151"/>
          <p:cNvSpPr/>
          <p:nvPr/>
        </p:nvSpPr>
        <p:spPr>
          <a:xfrm>
            <a:off x="310896" y="5907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731520" y="58521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OLX Autos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731520" y="610819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Classifieds (C2B)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2377440" y="590702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1800" dirty="0"/>
          </a:p>
        </p:txBody>
      </p:sp>
      <p:sp>
        <p:nvSpPr>
          <p:cNvPr id="157" name="Text 155"/>
          <p:cNvSpPr/>
          <p:nvPr/>
        </p:nvSpPr>
        <p:spPr>
          <a:xfrm>
            <a:off x="3246120" y="5870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3291840" y="619963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9" name="Shape 157"/>
          <p:cNvSpPr/>
          <p:nvPr/>
        </p:nvSpPr>
        <p:spPr>
          <a:xfrm>
            <a:off x="3291840" y="6199632"/>
            <a:ext cx="102047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0" name="Text 158"/>
          <p:cNvSpPr/>
          <p:nvPr/>
        </p:nvSpPr>
        <p:spPr>
          <a:xfrm>
            <a:off x="4023360" y="5870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4069080" y="619963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069080" y="6199632"/>
            <a:ext cx="170078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3" name="Text 161"/>
          <p:cNvSpPr/>
          <p:nvPr/>
        </p:nvSpPr>
        <p:spPr>
          <a:xfrm>
            <a:off x="4800600" y="5870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4846320" y="619963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4846320" y="6199632"/>
            <a:ext cx="158740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6" name="Text 164"/>
          <p:cNvSpPr/>
          <p:nvPr/>
        </p:nvSpPr>
        <p:spPr>
          <a:xfrm>
            <a:off x="5577840" y="5870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5623560" y="6199632"/>
            <a:ext cx="566928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23560" y="6199632"/>
            <a:ext cx="124724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69" name="Text 167"/>
          <p:cNvSpPr/>
          <p:nvPr/>
        </p:nvSpPr>
        <p:spPr>
          <a:xfrm>
            <a:off x="6355080" y="58704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6400800" y="6199632"/>
            <a:ext cx="640080" cy="914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400800" y="6199632"/>
            <a:ext cx="96012" cy="914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72" name="Text 170"/>
          <p:cNvSpPr/>
          <p:nvPr/>
        </p:nvSpPr>
        <p:spPr>
          <a:xfrm>
            <a:off x="7315200" y="5943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layer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—  REVENUE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REVENUE STREAMS,  ₹142+ CR POTENTIAL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201168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17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fees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68880" y="15361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₹499/report for buyers, ₹299 bulk for dealers, 440K reports/yr at 10% market penetration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06640" y="1444752"/>
            <a:ext cx="118872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₹22 Cr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13432"/>
            <a:ext cx="201168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SaaS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 + loan commission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68880" y="24048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₹2,999/mo Pro (5K dealers = ₹18Cr/yr) + ₹299/loan (5K dealers × 10 loans/mo = ₹18Cr/yr)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06640" y="2313432"/>
            <a:ext cx="118872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 Cr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82112"/>
            <a:ext cx="201168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B2B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API + SaaS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68880" y="327355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banks × ₹3L + 15 insurers × ₹5L + 20 OEMs × ₹10L + 5K premium dealers × ₹1.2L/yr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3182112"/>
            <a:ext cx="118872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₹64 Cr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405079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50792"/>
            <a:ext cx="201168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23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Inspection marketplace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68880" y="414223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₹999 basic, ₹1,999 premium, ₹499 second opinion. 30% platform take from mechanic network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06640" y="4050792"/>
            <a:ext cx="118872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251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 Cr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491947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919472"/>
            <a:ext cx="201168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92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InstantRC + SwapDirect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5303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fees + insurance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68880" y="50109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₹999 Deemed Transfer policy, escrow float on ₹10–25K per deal, 2–3% flat fee on swaps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06640" y="4919472"/>
            <a:ext cx="1188720" cy="7772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 Cr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65760" y="5833872"/>
            <a:ext cx="8229600" cy="5943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897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 YEAR 1 POTENTIAL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₹142+ CRORE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869680" y="1371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869680" y="1691640"/>
            <a:ext cx="301752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17465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revenue per dealer/yr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961120" y="20208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₹72K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869680" y="2496312"/>
            <a:ext cx="301752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0" y="25511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revenue per buyer txn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961120" y="28254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₹3,200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869680" y="3300984"/>
            <a:ext cx="301752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33558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 avg. contract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961120" y="3630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₹5L/yr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869680" y="4105656"/>
            <a:ext cx="301752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0" y="41605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gross margin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961120" y="4434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869680" y="4910328"/>
            <a:ext cx="301752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61120" y="49651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961120" y="5239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4.4M cars/yr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— 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STACK, ZERO TECHNICAL DEBT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110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16.1.6 App Router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854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97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340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 v4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083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Framer Motion 12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826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Zustand 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70248" y="141732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0248" y="141732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407408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+ 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187452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19110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7.4.1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07408" y="214884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21854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PostgreSQL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07408" y="24231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24597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Auth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07408" y="26974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27340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API Routes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07408" y="29718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3" name="Text 31"/>
          <p:cNvSpPr/>
          <p:nvPr/>
        </p:nvSpPr>
        <p:spPr>
          <a:xfrm>
            <a:off x="4498848" y="30083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Zod Validation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07408" y="32461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4498848" y="32826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Row-Level Security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20456" y="141732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0456" y="141732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8" name="Text 36"/>
          <p:cNvSpPr/>
          <p:nvPr/>
        </p:nvSpPr>
        <p:spPr>
          <a:xfrm>
            <a:off x="8357616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+ INTEGRATIONS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57616" y="187452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8449056" y="19110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GPT-4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357616" y="214884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Text 40"/>
          <p:cNvSpPr/>
          <p:nvPr/>
        </p:nvSpPr>
        <p:spPr>
          <a:xfrm>
            <a:off x="8449056" y="21854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Replicate API (photo AI)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57616" y="24231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4" name="Text 42"/>
          <p:cNvSpPr/>
          <p:nvPr/>
        </p:nvSpPr>
        <p:spPr>
          <a:xfrm>
            <a:off x="8449056" y="24597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Payments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57616" y="26974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Text 44"/>
          <p:cNvSpPr/>
          <p:nvPr/>
        </p:nvSpPr>
        <p:spPr>
          <a:xfrm>
            <a:off x="8449056" y="27340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Vahan/Parivahan API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357616" y="29718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8" name="Text 46"/>
          <p:cNvSpPr/>
          <p:nvPr/>
        </p:nvSpPr>
        <p:spPr>
          <a:xfrm>
            <a:off x="8449056" y="30083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OBD-II ECU Scan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57616" y="32461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0" name="Text 48"/>
          <p:cNvSpPr/>
          <p:nvPr/>
        </p:nvSpPr>
        <p:spPr>
          <a:xfrm>
            <a:off x="8449056" y="32826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 Aggregators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379476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79476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2519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42885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Edge Deployment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45628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 + SSR + CSR hybrid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48006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8371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R2 Storage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50749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51114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 Search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534924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53858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Cache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562356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56601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 + Edge Functions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270248" y="379476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70248" y="379476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8" name="Text 66"/>
          <p:cNvSpPr/>
          <p:nvPr/>
        </p:nvSpPr>
        <p:spPr>
          <a:xfrm>
            <a:off x="4407408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ARCHITECTURE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407408" y="42519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0" name="Text 68"/>
          <p:cNvSpPr/>
          <p:nvPr/>
        </p:nvSpPr>
        <p:spPr>
          <a:xfrm>
            <a:off x="4498848" y="42885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160,000+ generated pages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407408" y="45262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2" name="Text 70"/>
          <p:cNvSpPr/>
          <p:nvPr/>
        </p:nvSpPr>
        <p:spPr>
          <a:xfrm>
            <a:off x="4498848" y="45628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Programmatic SEO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407408" y="48006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4" name="Text 72"/>
          <p:cNvSpPr/>
          <p:nvPr/>
        </p:nvSpPr>
        <p:spPr>
          <a:xfrm>
            <a:off x="4498848" y="48371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 revalidation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407408" y="50749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6" name="Text 74"/>
          <p:cNvSpPr/>
          <p:nvPr/>
        </p:nvSpPr>
        <p:spPr>
          <a:xfrm>
            <a:off x="4498848" y="51114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JSON-LD Structured Data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407408" y="534924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8" name="Text 76"/>
          <p:cNvSpPr/>
          <p:nvPr/>
        </p:nvSpPr>
        <p:spPr>
          <a:xfrm>
            <a:off x="4498848" y="53858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× Brand pages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407408" y="562356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0" name="Text 78"/>
          <p:cNvSpPr/>
          <p:nvPr/>
        </p:nvSpPr>
        <p:spPr>
          <a:xfrm>
            <a:off x="4498848" y="56601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sitemap generation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220456" y="3794760"/>
            <a:ext cx="3822192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20456" y="3794760"/>
            <a:ext cx="382219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3" name="Text 81"/>
          <p:cNvSpPr/>
          <p:nvPr/>
        </p:nvSpPr>
        <p:spPr>
          <a:xfrm>
            <a:off x="8357616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+ SECURITY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357616" y="425196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5" name="Text 83"/>
          <p:cNvSpPr/>
          <p:nvPr/>
        </p:nvSpPr>
        <p:spPr>
          <a:xfrm>
            <a:off x="8449056" y="42885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OTP-based login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357616" y="452628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7" name="Text 85"/>
          <p:cNvSpPr/>
          <p:nvPr/>
        </p:nvSpPr>
        <p:spPr>
          <a:xfrm>
            <a:off x="8449056" y="456285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AuthGuard HOC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357616" y="480060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9" name="Text 87"/>
          <p:cNvSpPr/>
          <p:nvPr/>
        </p:nvSpPr>
        <p:spPr>
          <a:xfrm>
            <a:off x="8449056" y="483717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protection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357616" y="507492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1" name="Text 89"/>
          <p:cNvSpPr/>
          <p:nvPr/>
        </p:nvSpPr>
        <p:spPr>
          <a:xfrm>
            <a:off x="8449056" y="511149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Row-level security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357616" y="5349240"/>
            <a:ext cx="3547872" cy="2377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3" name="Text 91"/>
          <p:cNvSpPr/>
          <p:nvPr/>
        </p:nvSpPr>
        <p:spPr>
          <a:xfrm>
            <a:off x="8449056" y="538581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Dealer role gating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8357616" y="5623560"/>
            <a:ext cx="3547872" cy="2377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5" name="Text 93"/>
          <p:cNvSpPr/>
          <p:nvPr/>
        </p:nvSpPr>
        <p:spPr>
          <a:xfrm>
            <a:off x="8449056" y="5660136"/>
            <a:ext cx="3364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management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0040" y="6263640"/>
            <a:ext cx="11548872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0040" y="6263640"/>
            <a:ext cx="4572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6291072"/>
            <a:ext cx="11365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Strategy: Homepage + model pages use ISR (60s–5min) for SEO. Used car listings use SSR (always fresh). Interactive tools (EMI, TrueCost, NegotiationCoach) use CSR. Dealer dashboard is auth-gated CSR. Hybrid delivers both Google-indexable content at scale AND real-time transactional features.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— 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PLATFORM TO MARKET STANDARD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725912" cy="36576"/>
          </a:xfrm>
          <a:prstGeom prst="rect">
            <a:avLst/>
          </a:prstGeom>
          <a:solidFill>
            <a:srgbClr val="7A623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1907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29968"/>
            <a:ext cx="2816352" cy="41605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9968"/>
            <a:ext cx="28163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0756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20  ·  NOW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WIRING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633472" cy="457200"/>
          </a:xfrm>
          <a:prstGeom prst="rect">
            <a:avLst/>
          </a:prstGeom>
          <a:solidFill>
            <a:srgbClr val="0A1A0A"/>
          </a:solidFill>
          <a:ln w="635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204+ routes built, zero errors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2633472" cy="457200"/>
          </a:xfrm>
          <a:prstGeom prst="rect">
            <a:avLst/>
          </a:prstGeom>
          <a:solidFill>
            <a:srgbClr val="0A1A0A"/>
          </a:solidFill>
          <a:ln w="6350">
            <a:solidFill>
              <a:srgbClr val="1A3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on real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803904"/>
            <a:ext cx="2633472" cy="457200"/>
          </a:xfrm>
          <a:prstGeom prst="rect">
            <a:avLst/>
          </a:prstGeom>
          <a:solidFill>
            <a:srgbClr val="0A1A0A"/>
          </a:solidFill>
          <a:ln w="6350">
            <a:solidFill>
              <a:srgbClr val="1A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387705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DealerOS dashboard API-wired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334256"/>
            <a:ext cx="2633472" cy="457200"/>
          </a:xfrm>
          <a:prstGeom prst="rect">
            <a:avLst/>
          </a:prstGeom>
          <a:solidFill>
            <a:srgbClr val="0A1A0A"/>
          </a:solidFill>
          <a:ln w="6350">
            <a:solidFill>
              <a:srgbClr val="1A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440740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API endpoints functional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864608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493776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InstantRC → Parivahan integration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" y="546811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SwapDirect → escrow banking API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13048" y="171907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01568" y="2029968"/>
            <a:ext cx="2816352" cy="41605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1568" y="2029968"/>
            <a:ext cx="2816352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3511296" y="20756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21–22  ·  Q1 2026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511296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PAYMENTS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93008" y="274320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AI photo studio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93008" y="3273552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0" y="3346704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smart-reply for leads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93008" y="3803904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0" y="387705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subscription /plans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4334256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40740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CarBrand / NewCar DB models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93008" y="4864608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38728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0" y="493776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catalog → real DB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93008" y="539496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38728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0" y="546811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data pipeline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57416" y="1719072"/>
            <a:ext cx="256032" cy="25603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2029968"/>
            <a:ext cx="2816352" cy="41605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5936" y="2029968"/>
            <a:ext cx="2816352" cy="27432"/>
          </a:xfrm>
          <a:prstGeom prst="rect">
            <a:avLst/>
          </a:prstGeom>
          <a:solidFill>
            <a:srgbClr val="8A8580"/>
          </a:solidFill>
          <a:ln/>
        </p:spPr>
      </p:sp>
      <p:sp>
        <p:nvSpPr>
          <p:cNvPr id="56" name="Text 54"/>
          <p:cNvSpPr/>
          <p:nvPr/>
        </p:nvSpPr>
        <p:spPr>
          <a:xfrm>
            <a:off x="6455664" y="20756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2026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455664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EFFECTS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37376" y="274320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3096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84848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+ OEM service API integrations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37376" y="3273552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3096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84848" y="3346704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aggregator partnerships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37376" y="3803904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83096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84848" y="387705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agent network (50 cities)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437376" y="4334256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83096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784848" y="440740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LiveCondition mechanic onboarding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37376" y="4864608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83096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84848" y="493776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DemandPulse B2B API launch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437376" y="539496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83096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784848" y="546811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co-marketing program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701784" y="1719072"/>
            <a:ext cx="256032" cy="25603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90304" y="2029968"/>
            <a:ext cx="2816352" cy="4160520"/>
          </a:xfrm>
          <a:prstGeom prst="rect">
            <a:avLst/>
          </a:prstGeom>
          <a:solidFill>
            <a:srgbClr val="1A1A1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90304" y="2029968"/>
            <a:ext cx="2816352" cy="27432"/>
          </a:xfrm>
          <a:prstGeom prst="rect">
            <a:avLst/>
          </a:prstGeom>
          <a:solidFill>
            <a:srgbClr val="8A8580"/>
          </a:solidFill>
          <a:ln/>
        </p:spPr>
      </p:sp>
      <p:sp>
        <p:nvSpPr>
          <p:cNvPr id="79" name="Text 77"/>
          <p:cNvSpPr/>
          <p:nvPr/>
        </p:nvSpPr>
        <p:spPr>
          <a:xfrm>
            <a:off x="9400032" y="20756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Q3–Q4 2026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9400032" y="2304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STANDARD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9381744" y="274320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27464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729216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VehiclePassport industry standard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381744" y="3273552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27464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729216" y="3346704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/ NBFC DemandPulse contracts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381744" y="3803904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427464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9729216" y="387705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CrossState 10+ state coverage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9381744" y="4334256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27464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9729216" y="440740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DealerOS free tier dealers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381744" y="4864608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27464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9729216" y="493776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fundraise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9381744" y="5394960"/>
            <a:ext cx="2633472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427464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729216" y="546811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launch (React Native)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" y="6291072"/>
            <a:ext cx="3749040" cy="457200"/>
          </a:xfrm>
          <a:prstGeom prst="rect">
            <a:avLst/>
          </a:prstGeom>
          <a:solidFill>
            <a:srgbClr val="222222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4360" y="6309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₹142+ Cr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2377440" y="6355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 Potential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70832" y="6291072"/>
            <a:ext cx="3749040" cy="457200"/>
          </a:xfrm>
          <a:prstGeom prst="rect">
            <a:avLst/>
          </a:prstGeom>
          <a:solidFill>
            <a:srgbClr val="222222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507992" y="6309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2000" dirty="0"/>
          </a:p>
        </p:txBody>
      </p:sp>
      <p:sp>
        <p:nvSpPr>
          <p:cNvPr id="104" name="Text 102"/>
          <p:cNvSpPr/>
          <p:nvPr/>
        </p:nvSpPr>
        <p:spPr>
          <a:xfrm>
            <a:off x="6291072" y="6355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Dealer Partners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284464" y="6291072"/>
            <a:ext cx="3749040" cy="457200"/>
          </a:xfrm>
          <a:prstGeom prst="rect">
            <a:avLst/>
          </a:prstGeom>
          <a:solidFill>
            <a:srgbClr val="222222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421624" y="6309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$83B</a:t>
            </a:r>
            <a:endParaRPr lang="en-US" sz="2000" dirty="0"/>
          </a:p>
        </p:txBody>
      </p:sp>
      <p:sp>
        <p:nvSpPr>
          <p:cNvPr id="107" name="Text 105"/>
          <p:cNvSpPr/>
          <p:nvPr/>
        </p:nvSpPr>
        <p:spPr>
          <a:xfrm>
            <a:off x="10204704" y="6355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to Own by 2031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4" name="Shape 2"/>
          <p:cNvSpPr/>
          <p:nvPr/>
        </p:nvSpPr>
        <p:spPr>
          <a:xfrm>
            <a:off x="1755648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5" name="Shape 3"/>
          <p:cNvSpPr/>
          <p:nvPr/>
        </p:nvSpPr>
        <p:spPr>
          <a:xfrm>
            <a:off x="2633472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6" name="Shape 4"/>
          <p:cNvSpPr/>
          <p:nvPr/>
        </p:nvSpPr>
        <p:spPr>
          <a:xfrm>
            <a:off x="3511296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8" name="Shape 6"/>
          <p:cNvSpPr/>
          <p:nvPr/>
        </p:nvSpPr>
        <p:spPr>
          <a:xfrm>
            <a:off x="5266944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9" name="Shape 7"/>
          <p:cNvSpPr/>
          <p:nvPr/>
        </p:nvSpPr>
        <p:spPr>
          <a:xfrm>
            <a:off x="6144768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1" name="Shape 9"/>
          <p:cNvSpPr/>
          <p:nvPr/>
        </p:nvSpPr>
        <p:spPr>
          <a:xfrm>
            <a:off x="7900416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3" name="Shape 11"/>
          <p:cNvSpPr/>
          <p:nvPr/>
        </p:nvSpPr>
        <p:spPr>
          <a:xfrm>
            <a:off x="9656064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11712" y="0"/>
            <a:ext cx="7315" cy="6858000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859536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719072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578608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438144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97680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157216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016752"/>
            <a:ext cx="12188952" cy="7315"/>
          </a:xfrm>
          <a:prstGeom prst="rect">
            <a:avLst/>
          </a:prstGeom>
          <a:solidFill>
            <a:srgbClr val="111108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12801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17373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spc="2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THE</a:t>
            </a:r>
            <a:endParaRPr lang="en-US" sz="7800" dirty="0"/>
          </a:p>
        </p:txBody>
      </p:sp>
      <p:sp>
        <p:nvSpPr>
          <p:cNvPr id="25" name="Text 23"/>
          <p:cNvSpPr/>
          <p:nvPr/>
        </p:nvSpPr>
        <p:spPr>
          <a:xfrm>
            <a:off x="0" y="26060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7800" dirty="0"/>
          </a:p>
        </p:txBody>
      </p:sp>
      <p:sp>
        <p:nvSpPr>
          <p:cNvPr id="26" name="Text 24"/>
          <p:cNvSpPr/>
          <p:nvPr/>
        </p:nvSpPr>
        <p:spPr>
          <a:xfrm>
            <a:off x="0" y="3474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spc="200" kern="0" dirty="0">
                <a:solidFill>
                  <a:srgbClr val="E8E4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HASN'T GOT</a:t>
            </a:r>
            <a:endParaRPr lang="en-US" sz="7800" dirty="0"/>
          </a:p>
        </p:txBody>
      </p:sp>
      <p:sp>
        <p:nvSpPr>
          <p:cNvPr id="27" name="Text 25"/>
          <p:cNvSpPr/>
          <p:nvPr/>
        </p:nvSpPr>
        <p:spPr>
          <a:xfrm>
            <a:off x="2286000" y="466344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used car market doesn't need another listing platform. It needs someone to fix the trust deficit. Build that, and you own the $83 billion market."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AUTOVINCI  ·  INVESTOR PRESENTATION  ·  CONFIDENTIAL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2026-02-28T07:45:44Z</dcterms:created>
  <dcterms:modified xsi:type="dcterms:W3CDTF">2026-02-28T07:45:44Z</dcterms:modified>
</cp:coreProperties>
</file>