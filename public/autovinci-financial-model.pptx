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8136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1" name="Shape 19"/>
          <p:cNvSpPr/>
          <p:nvPr/>
        </p:nvSpPr>
        <p:spPr>
          <a:xfrm>
            <a:off x="12161520" y="0"/>
            <a:ext cx="5486" cy="6858000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9436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118872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178308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237744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297180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356616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16052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75488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34924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594360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537960"/>
            <a:ext cx="12188952" cy="5486"/>
          </a:xfrm>
          <a:prstGeom prst="rect">
            <a:avLst/>
          </a:prstGeom>
          <a:solidFill>
            <a:srgbClr val="0E0E08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50292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11887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CFO FINANCIAL MODEL  ·  FEBRUARY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0" y="160020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spc="30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AUTOVINCI</a:t>
            </a:r>
            <a:endParaRPr lang="en-US" sz="11000" dirty="0"/>
          </a:p>
        </p:txBody>
      </p:sp>
      <p:sp>
        <p:nvSpPr>
          <p:cNvPr id="36" name="Text 34"/>
          <p:cNvSpPr/>
          <p:nvPr/>
        </p:nvSpPr>
        <p:spPr>
          <a:xfrm>
            <a:off x="0" y="292608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8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BLUEPRINT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371600" y="36576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SAM · SOM  ·  3-Year P&amp;L  ·  Revenue Model  ·  CapEx / OpEx  ·  Valuation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343400"/>
            <a:ext cx="11457432" cy="822960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4343400"/>
            <a:ext cx="1145743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4165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 BY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48640" y="46177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Financial Officer  ·  25 Years Auto Industry Experience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484632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CFO: CarDekho Group · MG Motor India · Mahindra First Choice Wheels · Maruti True Value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5257800"/>
            <a:ext cx="2743200" cy="96012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5257800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5330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₹142 Cr+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457200" y="5779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1 Revenue Target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401568" y="5257800"/>
            <a:ext cx="2743200" cy="96012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01568" y="5257800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9" name="Text 47"/>
          <p:cNvSpPr/>
          <p:nvPr/>
        </p:nvSpPr>
        <p:spPr>
          <a:xfrm>
            <a:off x="3401568" y="5330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₹580 Cr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3401568" y="5779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3 Revenue Target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345936" y="5257800"/>
            <a:ext cx="2743200" cy="96012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45936" y="5257800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3" name="Text 51"/>
          <p:cNvSpPr/>
          <p:nvPr/>
        </p:nvSpPr>
        <p:spPr>
          <a:xfrm>
            <a:off x="6345936" y="5330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6345936" y="5779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DemandPulse Gross Margin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9290304" y="5257800"/>
            <a:ext cx="2743200" cy="96012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290304" y="5257800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7" name="Text 55"/>
          <p:cNvSpPr/>
          <p:nvPr/>
        </p:nvSpPr>
        <p:spPr>
          <a:xfrm>
            <a:off x="9290304" y="5330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14.2x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9290304" y="5779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Multiple (Y3)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16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—  CFO INVESTMENT THESIS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IS A ONCE-IN-A-DECADE</a:t>
            </a:r>
            <a:endParaRPr lang="en-US" sz="2600" dirty="0"/>
          </a:p>
          <a:p>
            <a:pPr indent="0" marL="0">
              <a:buNone/>
            </a:pPr>
            <a:r>
              <a:rPr lang="en-US" sz="26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OPPORTUNITY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3794760" cy="2176272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64208"/>
            <a:ext cx="37947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77393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Asset-Light, High-Margin SaaS 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50008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DemandPulse B2B data API and DealerOS SaaS generate 75–82% gross margins with near-zero marginal cost per additional customer. Every rupee of incremental revenue above fixed cost structure drops almost entirely to EBITDA. This is the CarDekho they should have built.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15968" y="1664208"/>
            <a:ext cx="3794760" cy="2176272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1664208"/>
            <a:ext cx="37947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4453128" y="177393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53128" y="19568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Multi-Vector Revenue on Single Data Asset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53128" y="2350008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inspection → sells VehiclePassport (₹499) → powers TrueCost → feeds DemandPulse → triggers LiveCondition → enables InstantRC. Five revenue events from one consumer action. LTV:CAC expands with every transaction without proportional cost increase.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66176" y="1664208"/>
            <a:ext cx="3794760" cy="2176272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1664208"/>
            <a:ext cx="37947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8403336" y="177393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03336" y="19568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Unorganized Market = Uncontested Pricing Power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03336" y="2350008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70.83% of the market is unorganized dealers with ZERO digital tools. We offer DealerOS free. When dealers are dependent on our platform for pricing, leads, and financing — we control the supply side and can introduce premium tiers without churn risk.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995928"/>
            <a:ext cx="3794760" cy="2176272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995928"/>
            <a:ext cx="37947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1056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428853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Data Moat = Recurring High-Value Contracts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681728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banks + 15 insurers + 20 OEMs paying ₹3–10L/yr each for DemandPulse access is ₹64Cr at steady state with 82% margin. This revenue is invisible to competitors, non-cyclical, and creates institutional lock-in. CarDekho has never monetized this.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15968" y="3995928"/>
            <a:ext cx="3794760" cy="2176272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15968" y="3995928"/>
            <a:ext cx="37947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6"/>
          <p:cNvSpPr/>
          <p:nvPr/>
        </p:nvSpPr>
        <p:spPr>
          <a:xfrm>
            <a:off x="4453128" y="41056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53128" y="428853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Declines as Network Grows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53128" y="4681728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SEO with 160K+ programmatic pages means marginal customer acquisition cost trends toward ₹0 over time. Early paid CAC of ₹800–1,200 (dealer) becomes ₹200–400 by Year 3 as organic share grows. This is the most defensible cost structure in the sector.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266176" y="3995928"/>
            <a:ext cx="3794760" cy="2176272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66176" y="3995928"/>
            <a:ext cx="37947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3" name="Text 31"/>
          <p:cNvSpPr/>
          <p:nvPr/>
        </p:nvSpPr>
        <p:spPr>
          <a:xfrm>
            <a:off x="8403336" y="41056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03336" y="428853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Path to ₹8,200 Cr Valuation by Year 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03336" y="4681728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5% market penetration by Year 5 with blended EBITDA margin of 28%, the business commands 20–25x EBITDA or 8–12x Revenue on SaaS multiples. Comparable exits: CarDekho at $1.2B, Cars24 at $3.3B peak. Autovinci's unit economics are materially superior.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—  MARKET SIZING  ·  TAM / SAM / SOM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$83B MARKET. WE NEED 5%.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5029200" cy="4892040"/>
          </a:xfrm>
          <a:prstGeom prst="rect">
            <a:avLst/>
          </a:prstGeom>
          <a:solidFill>
            <a:srgbClr val="0A0A05"/>
          </a:solidFill>
          <a:ln w="12700">
            <a:solidFill>
              <a:srgbClr val="6B58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5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ADDRESSABLE MARKET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4389120" cy="3977640"/>
          </a:xfrm>
          <a:prstGeom prst="rect">
            <a:avLst/>
          </a:prstGeom>
          <a:solidFill>
            <a:srgbClr val="0D0D07"/>
          </a:solidFill>
          <a:ln w="10160">
            <a:solidFill>
              <a:srgbClr val="6B58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842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05840" y="2331720"/>
            <a:ext cx="3749040" cy="3337560"/>
          </a:xfrm>
          <a:prstGeom prst="rect">
            <a:avLst/>
          </a:prstGeom>
          <a:solidFill>
            <a:srgbClr val="11110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3957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  ·  SERVICEABLE OBTAINABLE MARKET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" y="2743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₹1,850 Cr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1143000" y="3337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 OF ONLINE USED CAR MARKET BY YEAR 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43000" y="36576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220,000 units/yr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5,000 active dealers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22 cities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₹580 Cr direct revenue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1508760"/>
            <a:ext cx="6080760" cy="15087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508760"/>
            <a:ext cx="6080760" cy="36576"/>
          </a:xfrm>
          <a:prstGeom prst="rect">
            <a:avLst/>
          </a:prstGeom>
          <a:solidFill>
            <a:srgbClr val="6B581E"/>
          </a:solidFill>
          <a:ln/>
        </p:spPr>
      </p:sp>
      <p:sp>
        <p:nvSpPr>
          <p:cNvPr id="18" name="Text 16"/>
          <p:cNvSpPr/>
          <p:nvPr/>
        </p:nvSpPr>
        <p:spPr>
          <a:xfrm>
            <a:off x="5897880" y="16002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5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16002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$83B / ₹69,000 Cr (2031)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97880" y="1929384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4.4M used cars sold annually in India (2025)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97880" y="2103120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Growing to ~9M by 2031 at 12.4% volume CAGR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97880" y="2276856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Online penetration rising from 12% → 35% by 2031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97880" y="2450592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Adjacent: Insurance (₹28K Cr), Loans (₹52K Cr), Service (₹18K Cr)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97880" y="2624328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B2B data market: Banks + NBFCs + Insurers + OEMs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97880" y="2798064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ecosystem TAM including adjacent: $180B+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760720" y="3154680"/>
            <a:ext cx="6080760" cy="15087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3154680"/>
            <a:ext cx="60807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6"/>
          <p:cNvSpPr/>
          <p:nvPr/>
        </p:nvSpPr>
        <p:spPr>
          <a:xfrm>
            <a:off x="5897880" y="32461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37960" y="32461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₹12,800 Cr (2026)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97880" y="3575304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Online used car transactions: ₹4,200 Cr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97880" y="3749040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Dealer SaaS &amp; tools market: ₹2,100 Cr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97880" y="3922776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Vehicle inspection &amp; verification: ₹800 Cr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97880" y="4096512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 data &amp; intelligence (B2B): ₹3,200 Cr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97880" y="4270248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RC transfer &amp; documentation services: ₹600 Cr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97880" y="4443984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Post-purchase services (warranty, insurance): ₹1,900 Cr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760720" y="4800600"/>
            <a:ext cx="6080760" cy="15087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4800600"/>
            <a:ext cx="6080760" cy="36576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38" name="Text 36"/>
          <p:cNvSpPr/>
          <p:nvPr/>
        </p:nvSpPr>
        <p:spPr>
          <a:xfrm>
            <a:off x="5897880" y="48920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37960" y="48920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₹1,850 Cr by Year 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97880" y="5221224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Target: 5% of SAM across all revenue verticals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97880" y="5394960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5,000 DealerOS paid subscribers @ ₹2,999/mo avg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97880" y="5568696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440K VehiclePassport reports @ ₹350 blended ASP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97880" y="5742432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65 B2B data contracts (banks, insurers, OEMs)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97880" y="5916168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120K LiveCondition inspections @ ₹1,200 avg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97880" y="6089904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22 cities covered with full service stack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—  REVENUE MODEL  ·  5 STREAMS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MAKE MONEY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11457432" cy="969264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44752"/>
            <a:ext cx="11457432" cy="36576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361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5179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DemandPulse B2B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SaaS / Data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63240" y="1719072"/>
            <a:ext cx="777240" cy="320040"/>
          </a:xfrm>
          <a:prstGeom prst="rect">
            <a:avLst/>
          </a:prstGeom>
          <a:solidFill>
            <a:srgbClr val="0A2A14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71907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 82%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0" y="1517904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subscription + per-API-call pricing to banks, NBFCs, insurers, OEMs, dealers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0" y="15179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50 banks @ ₹3L/yr = ₹15 Cr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315200" y="17190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 insurers @ ₹5L/yr = ₹7.5 Cr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315200" y="1920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 OEMs @ ₹10L/yr = ₹20 Cr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315200" y="21214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5K prem dealers @ ₹1.2L/yr = ₹60 Cr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692640" y="15361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692640" y="173736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₹18 Cr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0" y="15361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515600" y="173736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₹42 Cr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38560" y="15361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Y3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338560" y="173736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₹85 Cr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487168"/>
            <a:ext cx="11457432" cy="969264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487168"/>
            <a:ext cx="1145743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5786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25603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DealerOS SaaS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28529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Freemium SaaS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063240" y="2761488"/>
            <a:ext cx="777240" cy="320040"/>
          </a:xfrm>
          <a:prstGeom prst="rect">
            <a:avLst/>
          </a:prstGeom>
          <a:solidFill>
            <a:srgbClr val="0A2A14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0" y="276148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 74%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31920" y="256032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starter tier → ₹999 Growth → ₹2,999 Pro → ₹7,999 Enterprise. Loan disbursal commission ₹299/loan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15200" y="2560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Free: 0–10 listings (lead gen)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315200" y="27614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Growth ₹999/mo: 10–50 listings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315200" y="29626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 ₹2,999/mo: unlimited + AI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315200" y="31638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Enterprise ₹7,999/mo: white-label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692640" y="2578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9692640" y="277977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₹22 Cr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515600" y="2578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Y2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0515600" y="277977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₹58 Cr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338560" y="2578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Y3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1338560" y="277977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₹140 Cr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529584"/>
            <a:ext cx="11457432" cy="969264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529584"/>
            <a:ext cx="11457432" cy="36576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62102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68680" y="36027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VehiclePassport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68680" y="389534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/ Report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063240" y="3803904"/>
            <a:ext cx="777240" cy="320040"/>
          </a:xfrm>
          <a:prstGeom prst="rect">
            <a:avLst/>
          </a:prstGeom>
          <a:solidFill>
            <a:srgbClr val="0A2A14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63240" y="3803904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 71%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931920" y="3602736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Per-report fee for buyers + bulk API for dealers + free for platform-listed cars (drives listing quality)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315200" y="36027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Consumer: ₹499/report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315200" y="38039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Dealer bulk: ₹299/report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315200" y="40050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Platform listed: free (cost &lt; ₹40)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315200" y="4206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Premium: ₹999 incl. OBD scan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9692640" y="36210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9692640" y="38221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₹14 Cr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515600" y="36210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Y2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0515600" y="38221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₹28 Cr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1338560" y="36210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Y3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1338560" y="38221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₹52 Cr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" y="4572000"/>
            <a:ext cx="11457432" cy="969264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" y="4572000"/>
            <a:ext cx="11457432" cy="36576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" y="46634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68680" y="46451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LiveCondition + InstantRC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68680" y="49377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Marketplace / Service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063240" y="4846320"/>
            <a:ext cx="777240" cy="320040"/>
          </a:xfrm>
          <a:prstGeom prst="rect">
            <a:avLst/>
          </a:prstGeom>
          <a:solidFill>
            <a:srgbClr val="0A2A14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63240" y="48463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 48%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931920" y="4645152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 booking platform (30% take rate) + RC escrow fee + deemed transfer insurance premium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315200" y="46451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Basic inspection: ₹999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315200" y="4846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Premium + video: ₹1,999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315200" y="50474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RC escrow fee: ₹999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315200" y="52486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Deemed transfer policy: ₹1,499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9692640" y="46634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9692640" y="48646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₹12 Cr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515600" y="46634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Y2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0515600" y="48646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₹24 Cr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11338560" y="46634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Y3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11338560" y="48646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₹48 Cr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65760" y="5614416"/>
            <a:ext cx="11457432" cy="969264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5760" y="5614416"/>
            <a:ext cx="11457432" cy="36576"/>
          </a:xfrm>
          <a:prstGeom prst="rect">
            <a:avLst/>
          </a:prstGeom>
          <a:solidFill>
            <a:srgbClr val="9B6DD4"/>
          </a:solidFill>
          <a:ln/>
        </p:spPr>
      </p:sp>
      <p:sp>
        <p:nvSpPr>
          <p:cNvPr id="80" name="Text 78"/>
          <p:cNvSpPr/>
          <p:nvPr/>
        </p:nvSpPr>
        <p:spPr>
          <a:xfrm>
            <a:off x="457200" y="570585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#05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868680" y="56875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Insurance (Embedded)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868680" y="598017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Commission / Referral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063240" y="5888736"/>
            <a:ext cx="777240" cy="320040"/>
          </a:xfrm>
          <a:prstGeom prst="rect">
            <a:avLst/>
          </a:prstGeom>
          <a:solidFill>
            <a:srgbClr val="0A2A14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063240" y="58887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 91%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3931920" y="568756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disbursal commission from bank partners (1–1.5% of loan value). Insurance premium referral (12–18%)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7315200" y="56875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 loan: 1.2% of loan value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7315200" y="58887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Used car loan: 1.5% + ₹2K flat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7315200" y="60899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Insurance referral: 15% premium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7315200" y="62910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 accident: ₹200 flat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9692640" y="570585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9692640" y="590702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6D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₹18 Cr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0515600" y="570585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Y2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10515600" y="590702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6D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₹38 Cr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11338560" y="570585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Y3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11338560" y="590702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6D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₹72 Cr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365760" y="6629400"/>
            <a:ext cx="11457432" cy="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7" name="Text 95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16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—  3-YEAR REVENUE FORECAST  ·  DETAILED BREAKDOWN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₹84 CR → ₹260 CR → ₹580 CR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11457432" cy="329184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83080"/>
            <a:ext cx="1145743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545336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STREAM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21024" y="154533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FY2026 (Yr 1)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49824" y="154533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FY2027 (Yr 2)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278624" y="154533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FY2028 (Yr 3)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107424" y="154533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3-Yr CAGR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" y="1810512"/>
            <a:ext cx="11457432" cy="329184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87452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DemandPulse B2B API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21024" y="187452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 Cr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49824" y="187452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 Cr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278624" y="187452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₹85 Cr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07424" y="187452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117%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139696"/>
            <a:ext cx="11457432" cy="329184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203704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DealerOS SaaS (subs)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21024" y="220370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 Cr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49824" y="220370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₹36 Cr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278624" y="220370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₹90 Cr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107424" y="220370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468880"/>
            <a:ext cx="11457432" cy="329184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2532888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DealerOS Loan Commission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21024" y="253288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 Cr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49824" y="253288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 Cr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78624" y="253288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 Cr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107424" y="253288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2798064"/>
            <a:ext cx="11457432" cy="329184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2862072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VehiclePassport Reports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21024" y="286207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 Cr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49824" y="286207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₹28 Cr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278624" y="286207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₹52 Cr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07424" y="2862072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127248"/>
            <a:ext cx="11457432" cy="329184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3191256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LiveCondition Inspections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21024" y="319125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 Cr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449824" y="319125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₹16 Cr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278624" y="319125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₹32 Cr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107424" y="319125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3456432"/>
            <a:ext cx="11457432" cy="329184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352044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InstantRC + SwapDirect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21024" y="352044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 Cr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49824" y="352044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 Cr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278624" y="352044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 Cr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107424" y="352044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119%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" y="3785616"/>
            <a:ext cx="11457432" cy="329184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" y="3849624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Commissions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621024" y="384962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 Cr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49824" y="384962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₹28 Cr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278624" y="384962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₹60 Cr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107424" y="384962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145%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4114800"/>
            <a:ext cx="11457432" cy="329184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" y="4178808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Referrals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621024" y="41788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 Cr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449824" y="41788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 Cr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278624" y="41788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₹36 Cr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107424" y="417880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112%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5760" y="4443984"/>
            <a:ext cx="11457432" cy="329184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0624" y="4507992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/ Sponsored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621024" y="450799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Cr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449824" y="450799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 Cr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278624" y="450799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 Cr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107424" y="4507992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4773168"/>
            <a:ext cx="11457432" cy="329184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0624" y="4837176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CrossState Express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621024" y="483717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Cr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449824" y="483717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 Cr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278624" y="483717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 Cr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9107424" y="483717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65760" y="5102352"/>
            <a:ext cx="11457432" cy="329184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0624" y="516636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Plans (VIP)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621024" y="516636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Cr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449824" y="516636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 Cr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278624" y="516636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 Cr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9107424" y="516636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65760" y="5431536"/>
            <a:ext cx="11457432" cy="329184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0624" y="5495544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Listing Fees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3621024" y="549554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Cr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449824" y="549554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 Cr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278624" y="549554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₹16 Cr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9107424" y="549554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65760" y="5760720"/>
            <a:ext cx="11457432" cy="329184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20624" y="5824728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3621024" y="582472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₹84 Cr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449824" y="582472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₹232 Cr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7278624" y="582472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₹503 Cr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9107424" y="582472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145%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365760" y="6089904"/>
            <a:ext cx="11457432" cy="329184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20624" y="6153912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Growth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3621024" y="615391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449824" y="615391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+176%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278624" y="615391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+117%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9107424" y="6153912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65760" y="5760720"/>
            <a:ext cx="11457432" cy="329184"/>
          </a:xfrm>
          <a:prstGeom prst="rect">
            <a:avLst/>
          </a:prstGeom>
          <a:solidFill>
            <a:srgbClr val="1A1508"/>
          </a:solidFill>
          <a:ln w="6350">
            <a:solidFill>
              <a:srgbClr val="6B581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5760" y="5760720"/>
            <a:ext cx="1145743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9" name="Text 97"/>
          <p:cNvSpPr/>
          <p:nvPr/>
        </p:nvSpPr>
        <p:spPr>
          <a:xfrm>
            <a:off x="420624" y="581558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3621024" y="58155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₹84 Cr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5449824" y="58155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₹232 Cr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7278624" y="58155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₹503 Cr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9107424" y="581558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145%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365760" y="6400800"/>
            <a:ext cx="11457432" cy="292608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02920" y="6419088"/>
            <a:ext cx="11183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Conservative model. Year 3 target of ₹503 Cr is achievable at 2.3% market penetration. Upside scenario (5% share): ₹830 Cr with same cost structure. Excludes potential enterprise partnerships and international expansion.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16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—  PROFIT &amp; LOSS STATEMENT  ·  FY2026–FY2028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P&amp;L: EBITDA POSITIVE BY Q4 FY2026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11457432" cy="26974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23644"/>
            <a:ext cx="1145743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545336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ITEM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712464" y="1545336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358384" y="1545336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FY2027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004304" y="1545336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FY2028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650224" y="1545336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" y="1751076"/>
            <a:ext cx="11457432" cy="26974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815084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REVENUE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12464" y="1815084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₹84.0 Cr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58384" y="1815084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₹232.0 Cr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004304" y="1815084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₹503.0 Cr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650224" y="1815084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revenue streams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020824"/>
            <a:ext cx="11457432" cy="26974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084832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Less: Direct Costs (COGS)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712464" y="2084832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(₹22.4 Cr)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58384" y="2084832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(₹53.4 Cr)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004304" y="2084832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(₹101.1 Cr)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50224" y="2084832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costs, mechanic payouts, report infra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90572"/>
            <a:ext cx="11457432" cy="26974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2354580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12464" y="2354580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₹61.6 Cr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58384" y="2354580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₹178.6 Cr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04304" y="2354580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₹401.9 Cr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650224" y="2354580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2560320"/>
            <a:ext cx="11457432" cy="26974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2624328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712464" y="2624328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73.3%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58384" y="2624328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77.0%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04304" y="2624328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79.9%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650224" y="2624328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as SaaS mix grows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2830068"/>
            <a:ext cx="11457432" cy="26974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2894076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712464" y="2894076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358384" y="2894076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004304" y="2894076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650224" y="2894076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3099816"/>
            <a:ext cx="11457432" cy="26974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3163824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EXPENSES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712464" y="3163824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58384" y="3163824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004304" y="3163824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650224" y="3163824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" y="3369564"/>
            <a:ext cx="11457432" cy="26974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" y="3433572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Product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712464" y="3433572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(₹18.0 Cr)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358384" y="3433572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(₹32.0 Cr)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004304" y="3433572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(₹52.0 Cr)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650224" y="3433572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30-person → 55 → 80 team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3639312"/>
            <a:ext cx="11457432" cy="26974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" y="3703320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Dealer Acquisition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712464" y="3703320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(₹14.0 Cr)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358384" y="3703320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(₹28.0 Cr)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004304" y="3703320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(₹42.0 Cr)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650224" y="3703320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sales + digital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5760" y="3909060"/>
            <a:ext cx="11457432" cy="26974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0624" y="3973068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Brand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712464" y="3973068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(₹10.0 Cr)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358384" y="3973068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(₹20.0 Cr)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004304" y="3973068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(₹30.0 Cr)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650224" y="3973068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SEO, performance, brand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4178808"/>
            <a:ext cx="11457432" cy="26974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0624" y="4242816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Infra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712464" y="4242816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(₹6.0 Cr)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358384" y="4242816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(₹10.0 Cr)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004304" y="4242816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(₹16.0 Cr)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650224" y="4242816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Cloud, Vercel, Supabase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65760" y="4448556"/>
            <a:ext cx="11457432" cy="26974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0624" y="4512564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G&amp;A (Legal, Finance, HR)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712464" y="4512564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(₹5.0 Cr)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358384" y="4512564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(₹8.0 Cr)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004304" y="4512564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(₹12.0 Cr)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8650224" y="4512564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65760" y="4718304"/>
            <a:ext cx="11457432" cy="26974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0624" y="4782312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3712464" y="4782312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(₹3.0 Cr)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358384" y="4782312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(₹6.0 Cr)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004304" y="4782312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(₹9.0 Cr)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650224" y="4782312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65760" y="4988052"/>
            <a:ext cx="11457432" cy="26974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20624" y="5052060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OpEx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3712464" y="5052060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(₹56.0 Cr)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358384" y="5052060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(₹104.0 Cr)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7004304" y="5052060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(₹161.0 Cr)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8650224" y="5052060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365760" y="5257800"/>
            <a:ext cx="11457432" cy="26974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20624" y="5321808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3712464" y="5321808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₹5.6 Cr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358384" y="5321808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₹74.6 Cr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004304" y="5321808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₹240.9 Cr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8650224" y="5321808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65760" y="5527548"/>
            <a:ext cx="11457432" cy="26974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20624" y="5591556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3712464" y="5591556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5358384" y="5591556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32.2%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7004304" y="5591556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47.9%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8650224" y="5591556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 by Y3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365760" y="5797296"/>
            <a:ext cx="11457432" cy="26974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20624" y="5861304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Depreciation &amp; Amortisation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3712464" y="5861304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(₹2.8 Cr)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5358384" y="5861304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(₹5.2 Cr)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7004304" y="5861304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(₹8.4 Cr)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8650224" y="5861304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365760" y="6067044"/>
            <a:ext cx="11457432" cy="26974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20624" y="6131052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3712464" y="6131052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₹2.8 Cr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5358384" y="6131052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₹69.4 Cr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7004304" y="6131052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₹232.5 Cr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8650224" y="6131052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365760" y="6336792"/>
            <a:ext cx="11457432" cy="26974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20624" y="6400800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(on debt if any)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3712464" y="6400800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(₹0.5 Cr)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5358384" y="6400800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(₹0.5 Cr)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7004304" y="6400800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(₹0.5 Cr)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8650224" y="6400800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debt assumed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365760" y="6606540"/>
            <a:ext cx="11457432" cy="26974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20624" y="6670548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PBT (Profit Before Tax)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3712464" y="6670548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₹2.3 Cr</a:t>
            </a:r>
            <a:endParaRPr lang="en-US" sz="850" dirty="0"/>
          </a:p>
        </p:txBody>
      </p:sp>
      <p:sp>
        <p:nvSpPr>
          <p:cNvPr id="124" name="Text 122"/>
          <p:cNvSpPr/>
          <p:nvPr/>
        </p:nvSpPr>
        <p:spPr>
          <a:xfrm>
            <a:off x="5358384" y="6670548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₹68.9 Cr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7004304" y="6670548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₹232.0 Cr</a:t>
            </a:r>
            <a:endParaRPr lang="en-US" sz="850" dirty="0"/>
          </a:p>
        </p:txBody>
      </p:sp>
      <p:sp>
        <p:nvSpPr>
          <p:cNvPr id="126" name="Text 124"/>
          <p:cNvSpPr/>
          <p:nvPr/>
        </p:nvSpPr>
        <p:spPr>
          <a:xfrm>
            <a:off x="8650224" y="6670548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365760" y="6876288"/>
            <a:ext cx="11457432" cy="26974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20624" y="6940296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(25% effective rate)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3712464" y="6940296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(₹0.6 Cr)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5358384" y="6940296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(₹17.2 Cr)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7004304" y="6940296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(₹58.0 Cr)</a:t>
            </a:r>
            <a:endParaRPr lang="en-US" sz="850" dirty="0"/>
          </a:p>
        </p:txBody>
      </p:sp>
      <p:sp>
        <p:nvSpPr>
          <p:cNvPr id="132" name="Text 130"/>
          <p:cNvSpPr/>
          <p:nvPr/>
        </p:nvSpPr>
        <p:spPr>
          <a:xfrm>
            <a:off x="8650224" y="6940296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365760" y="7146036"/>
            <a:ext cx="11457432" cy="26974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20624" y="7210044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 (Net Profit)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3712464" y="7210044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₹1.7 Cr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5358384" y="7210044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₹51.7 Cr</a:t>
            </a:r>
            <a:endParaRPr lang="en-US" sz="850" dirty="0"/>
          </a:p>
        </p:txBody>
      </p:sp>
      <p:sp>
        <p:nvSpPr>
          <p:cNvPr id="137" name="Text 135"/>
          <p:cNvSpPr/>
          <p:nvPr/>
        </p:nvSpPr>
        <p:spPr>
          <a:xfrm>
            <a:off x="7004304" y="7210044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₹174.0 Cr</a:t>
            </a:r>
            <a:endParaRPr lang="en-US" sz="850" dirty="0"/>
          </a:p>
        </p:txBody>
      </p:sp>
      <p:sp>
        <p:nvSpPr>
          <p:cNvPr id="138" name="Text 136"/>
          <p:cNvSpPr/>
          <p:nvPr/>
        </p:nvSpPr>
        <p:spPr>
          <a:xfrm>
            <a:off x="8650224" y="7210044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365760" y="7415784"/>
            <a:ext cx="11457432" cy="26974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20624" y="7479792"/>
            <a:ext cx="318211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Margin %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3712464" y="7479792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850" dirty="0"/>
          </a:p>
        </p:txBody>
      </p:sp>
      <p:sp>
        <p:nvSpPr>
          <p:cNvPr id="142" name="Text 140"/>
          <p:cNvSpPr/>
          <p:nvPr/>
        </p:nvSpPr>
        <p:spPr>
          <a:xfrm>
            <a:off x="5358384" y="7479792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22.3%</a:t>
            </a:r>
            <a:endParaRPr lang="en-US" sz="850" dirty="0"/>
          </a:p>
        </p:txBody>
      </p:sp>
      <p:sp>
        <p:nvSpPr>
          <p:cNvPr id="143" name="Text 141"/>
          <p:cNvSpPr/>
          <p:nvPr/>
        </p:nvSpPr>
        <p:spPr>
          <a:xfrm>
            <a:off x="7004304" y="7479792"/>
            <a:ext cx="153619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34.6%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8650224" y="7479792"/>
            <a:ext cx="3547872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365760" y="2290572"/>
            <a:ext cx="11457432" cy="269748"/>
          </a:xfrm>
          <a:prstGeom prst="rect">
            <a:avLst/>
          </a:prstGeom>
          <a:solidFill>
            <a:srgbClr val="0A1A0A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65760" y="2290572"/>
            <a:ext cx="11457432" cy="22860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147" name="Shape 145"/>
          <p:cNvSpPr/>
          <p:nvPr/>
        </p:nvSpPr>
        <p:spPr>
          <a:xfrm>
            <a:off x="365760" y="4988052"/>
            <a:ext cx="11457432" cy="269748"/>
          </a:xfrm>
          <a:prstGeom prst="rect">
            <a:avLst/>
          </a:prstGeom>
          <a:solidFill>
            <a:srgbClr val="1A1508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65760" y="4988052"/>
            <a:ext cx="11457432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9" name="Shape 147"/>
          <p:cNvSpPr/>
          <p:nvPr/>
        </p:nvSpPr>
        <p:spPr>
          <a:xfrm>
            <a:off x="365760" y="6876288"/>
            <a:ext cx="11457432" cy="269748"/>
          </a:xfrm>
          <a:prstGeom prst="rect">
            <a:avLst/>
          </a:prstGeom>
          <a:solidFill>
            <a:srgbClr val="0A1A0A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65760" y="6876288"/>
            <a:ext cx="11457432" cy="22860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151" name="Text 149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16</a:t>
            </a:r>
            <a:endParaRPr lang="en-US" sz="800" dirty="0"/>
          </a:p>
        </p:txBody>
      </p:sp>
      <p:sp>
        <p:nvSpPr>
          <p:cNvPr id="152" name="Text 150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—  COST ANALYSIS  ·  STRUCTURE &amp; SCALING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COSTS SCALE AT 40% OF REVENUE GROWTH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1 — COST BREAKDOWN (₹ CR)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11457432" cy="347472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30552"/>
            <a:ext cx="1145743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874520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CATEGORY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529584" y="1874520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809744" y="1874520"/>
            <a:ext cx="89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OF REV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815584" y="1874520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095744" y="1874520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SCALING BEHAVIOUR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2157984"/>
            <a:ext cx="11457432" cy="34747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221992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Data Infra (Parivahan, OEM)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29584" y="2221992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₹4.2 Cr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09744" y="2221992"/>
            <a:ext cx="89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15584" y="2221992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095744" y="2221992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~0.6x revenue growth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505456"/>
            <a:ext cx="11457432" cy="34747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2569464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 Payouts (LiveCondition)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29584" y="2569464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 Cr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09744" y="2569464"/>
            <a:ext cx="89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15584" y="2569464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95744" y="2569464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70% pass-through on inspection revenue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2852928"/>
            <a:ext cx="11457432" cy="34747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2916936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Infra (Vercel, Supabase, AWS)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529584" y="2916936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₹2.8 Cr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9744" y="2916936"/>
            <a:ext cx="89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15584" y="2916936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Semi-fixed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095744" y="2916936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Step-function increases every 5x user growth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200400"/>
            <a:ext cx="11457432" cy="34747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3264408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Team (30 FTEs)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529584" y="3264408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₹10.8 Cr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09744" y="3264408"/>
            <a:ext cx="89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15584" y="3264408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095744" y="3264408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to 55 FTEs in Y2, 80 in Y3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547872"/>
            <a:ext cx="11457432" cy="34747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3611880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Design (8 FTEs)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529584" y="3611880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 Cr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09744" y="3611880"/>
            <a:ext cx="89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15584" y="3611880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095744" y="3611880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at 8–10% of eng headcount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3895344"/>
            <a:ext cx="11457432" cy="34747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" y="3959352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— Dealer Acquisition (20 FTEs)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529584" y="3959352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₹8.0 Cr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09744" y="3959352"/>
            <a:ext cx="89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815584" y="3959352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095744" y="3959352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₹1,200 blended CAC/dealer; payback 4.2 mo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65760" y="4242816"/>
            <a:ext cx="11457432" cy="34747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" y="4306824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&amp; SEO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529584" y="4306824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₹6.0 Cr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09744" y="4306824"/>
            <a:ext cx="89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15584" y="4306824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Semi-var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095744" y="4306824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declines from ₹1,200 to ₹400 by Y3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65760" y="4590288"/>
            <a:ext cx="11457432" cy="34747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0624" y="4654296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 (10 FTEs)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529584" y="4654296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₹3.0 Cr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809744" y="4654296"/>
            <a:ext cx="89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15584" y="4654296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095744" y="4654296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ticket volume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65760" y="4937760"/>
            <a:ext cx="11457432" cy="34747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0624" y="5001768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Compliance, RTO Ops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529584" y="5001768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₹2.5 Cr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809744" y="5001768"/>
            <a:ext cx="89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815584" y="5001768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095744" y="5001768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RTO network setup ₹1.2 Cr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65760" y="5285232"/>
            <a:ext cx="11457432" cy="34747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0624" y="5349240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G&amp;A — Finance, HR, Admin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529584" y="5349240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₹2.5 Cr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809744" y="5349240"/>
            <a:ext cx="89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815584" y="5349240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095744" y="5349240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overhead; remote-first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65760" y="5632704"/>
            <a:ext cx="11457432" cy="34747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0624" y="5696712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Office, Travel, Misc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3529584" y="5696712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₹0.8 Cr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809744" y="5696712"/>
            <a:ext cx="89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15584" y="5696712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7095744" y="5696712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65760" y="5980176"/>
            <a:ext cx="11457432" cy="34747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0624" y="6044184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COSTS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3529584" y="6044184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₹49.0 Cr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809744" y="6044184"/>
            <a:ext cx="89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58.3%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815584" y="6044184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095744" y="6044184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73.3% on ₹84 Cr revenue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365760" y="5632704"/>
            <a:ext cx="11457432" cy="347472"/>
          </a:xfrm>
          <a:prstGeom prst="rect">
            <a:avLst/>
          </a:prstGeom>
          <a:solidFill>
            <a:srgbClr val="1A1508"/>
          </a:solidFill>
          <a:ln w="6350">
            <a:solidFill>
              <a:srgbClr val="6B581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65760" y="5632704"/>
            <a:ext cx="11457432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8" name="Text 86"/>
          <p:cNvSpPr/>
          <p:nvPr/>
        </p:nvSpPr>
        <p:spPr>
          <a:xfrm>
            <a:off x="420624" y="569671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COSTS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3529584" y="569671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₹49.0 Cr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4809744" y="569671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58.3%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5815584" y="569671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7095744" y="569671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Gross margin 73.3% on ₹84 Cr revenue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65760" y="5870448"/>
            <a:ext cx="11457432" cy="749808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65760" y="5870448"/>
            <a:ext cx="1145743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5" name="Text 93"/>
          <p:cNvSpPr/>
          <p:nvPr/>
        </p:nvSpPr>
        <p:spPr>
          <a:xfrm>
            <a:off x="502920" y="592531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SCALING PRINCIPLES (CFO MANDATES):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502920" y="61447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Variable costs must never exceed 35% of revenue in any quarter after Q4 Y1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502920" y="61447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Engineering headcount growth capped at 50% YoY — force multiplier via AI-assisted development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02920" y="628192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Engineering headcount growth capped at 50% YoY — force multiplier via AI-assisted development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502920" y="61447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Sales CAC payback period must stay below 5 months — kill channels that exceed this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502920" y="641908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Sales CAC payback period must stay below 5 months — kill channels that exceed this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502920" y="61447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B2B / SaaS revenue must reach 60%+ of total mix by end of Y2 to protect margin in downturns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502920" y="655624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B2B / SaaS revenue must reach 60%+ of total mix by end of Y2 to protect margin in downturns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65760" y="5870448"/>
            <a:ext cx="11457432" cy="749808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5760" y="5870448"/>
            <a:ext cx="1145743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5" name="Text 103"/>
          <p:cNvSpPr/>
          <p:nvPr/>
        </p:nvSpPr>
        <p:spPr>
          <a:xfrm>
            <a:off x="502920" y="5961888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MANDATE: Variable costs &lt;35% revenue post Q4Y1  ·  Eng headcount +50% cap YoY  ·  CAC payback &lt;5mo  ·  SaaS mix &gt;60% by end Y2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16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—  CAPITAL EXPENDITURE  ·  3-YEAR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ASSET-LIGHT CAPEX: ₹28 CR OVER 3 YEARS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 is fundamentally asset-light. Unlike Spinny (buys inventory) or Cars24 (physical hubs), all CapEx is in technology infrastructure, data integrations, and brand. Physical assets are minimal — zero vehicle inventory, zero owned inspection centres.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11457432" cy="29260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258568"/>
            <a:ext cx="1145743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2057400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CAPEX ITEM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895344" y="205740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175504" y="205740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FY2027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455664" y="205740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FY2028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735824" y="205740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015984" y="2057400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11457432" cy="29260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350008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INFRASTRUCTURE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95344" y="235000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175504" y="235000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55664" y="235000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35824" y="235000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015984" y="2350008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578608"/>
            <a:ext cx="11457432" cy="29260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264261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Development (initial build)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95344" y="264261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₹3.5 Cr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75504" y="264261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₹1.0 Cr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55664" y="264261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₹0.5 Cr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35824" y="264261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₹5.0 Cr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015984" y="2642616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One-time; platform already 70% built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871216"/>
            <a:ext cx="11457432" cy="29260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2935224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Development (iOS + Android)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95344" y="293522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₹1.8 Cr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175504" y="293522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₹0.5 Cr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55664" y="293522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₹0.3 Cr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735824" y="293522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₹2.6 Cr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015984" y="2935224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Native; reuses existing logic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163824"/>
            <a:ext cx="11457432" cy="29260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3227832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DemandPulse Data Pipeline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95344" y="3227832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₹2.2 Cr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75504" y="3227832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₹1.0 Cr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55664" y="3227832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₹0.5 Cr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735824" y="3227832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₹3.7 Cr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015984" y="3227832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Kafka, Spark, ClickHouse infra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3456432"/>
            <a:ext cx="11457432" cy="29260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3520440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Integrations (Vahan, OEM, Insurer)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895344" y="352044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₹1.5 Cr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175504" y="352044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₹0.8 Cr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55664" y="352044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₹0.3 Cr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735824" y="352044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₹2.6 Cr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015984" y="3520440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per integration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65760" y="3749040"/>
            <a:ext cx="11457432" cy="29260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" y="3813048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Model Training Infrastructure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895344" y="381304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₹0.8 Cr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175504" y="381304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₹1.2 Cr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455664" y="381304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₹1.0 Cr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735824" y="381304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₹3.0 Cr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015984" y="3813048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compute for pricing models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4041648"/>
            <a:ext cx="11457432" cy="29260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0624" y="410565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EXPANSION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895344" y="410565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175504" y="410565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455664" y="410565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735824" y="410565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015984" y="4105656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65760" y="4334256"/>
            <a:ext cx="11457432" cy="29260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0624" y="4398264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Expansion Operations (22 cities)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895344" y="439826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₹1.0 Cr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175504" y="439826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₹2.0 Cr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455664" y="439826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₹1.5 Cr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735824" y="439826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₹4.5 Cr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015984" y="4398264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setup, RTO agent onboarding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65760" y="4626864"/>
            <a:ext cx="11457432" cy="29260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0624" y="4690872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 Network Setup (LiveCondition)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895344" y="4690872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₹1.2 Cr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175504" y="4690872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₹0.8 Cr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455664" y="4690872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₹0.4 Cr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735824" y="4690872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₹2.4 Cr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9015984" y="4690872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tools, app onboarding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65760" y="4919472"/>
            <a:ext cx="11457432" cy="29260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20624" y="4983480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MARKETING ASSETS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3895344" y="498348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175504" y="498348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455664" y="498348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735824" y="498348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9015984" y="4983480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65760" y="5212080"/>
            <a:ext cx="11457432" cy="29260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20624" y="5276088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Identity &amp; Creative Assets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3895344" y="527608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₹0.8 Cr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175504" y="527608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₹0.3 Cr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455664" y="527608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₹0.2 Cr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735824" y="527608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₹1.3 Cr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9015984" y="5276088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creatives, video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65760" y="5504688"/>
            <a:ext cx="11457432" cy="29260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20624" y="556869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Content Production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3895344" y="556869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₹0.6 Cr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5175504" y="556869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₹0.8 Cr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455664" y="556869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₹0.6 Cr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7735824" y="556869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₹2.0 Cr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9015984" y="5568696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160K+ pages, editorial content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65760" y="5797296"/>
            <a:ext cx="11457432" cy="29260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0624" y="5861304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&amp; EQUIPMENT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3895344" y="586130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5175504" y="586130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6455664" y="586130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7735824" y="586130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9015984" y="5861304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365760" y="6089904"/>
            <a:ext cx="11457432" cy="29260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20624" y="6153912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Setup (HQ + 3 satellite)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3895344" y="6153912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₹0.5 Cr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5175504" y="6153912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₹0.3 Cr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6455664" y="6153912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₹0.2 Cr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7735824" y="6153912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₹1.0 Cr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9015984" y="6153912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Lean; remote-first culture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365760" y="6382512"/>
            <a:ext cx="11457432" cy="29260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20624" y="6446520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Laptops, Equipment, Security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3895344" y="644652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₹0.4 Cr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5175504" y="644652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₹0.3 Cr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6455664" y="644652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₹0.2 Cr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7735824" y="644652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₹0.9 Cr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9015984" y="6446520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365760" y="6675120"/>
            <a:ext cx="11457432" cy="292608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20624" y="6739128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CAPEX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3895344" y="673912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₹14.3 Cr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5175504" y="673912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₹9.0 Cr</a:t>
            </a:r>
            <a:endParaRPr lang="en-US" sz="850" dirty="0"/>
          </a:p>
        </p:txBody>
      </p:sp>
      <p:sp>
        <p:nvSpPr>
          <p:cNvPr id="124" name="Text 122"/>
          <p:cNvSpPr/>
          <p:nvPr/>
        </p:nvSpPr>
        <p:spPr>
          <a:xfrm>
            <a:off x="6455664" y="673912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₹5.7 Cr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7735824" y="673912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₹29.0 Cr</a:t>
            </a:r>
            <a:endParaRPr lang="en-US" sz="850" dirty="0"/>
          </a:p>
        </p:txBody>
      </p:sp>
      <p:sp>
        <p:nvSpPr>
          <p:cNvPr id="126" name="Text 124"/>
          <p:cNvSpPr/>
          <p:nvPr/>
        </p:nvSpPr>
        <p:spPr>
          <a:xfrm>
            <a:off x="9015984" y="6739128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~5.8% of 3-yr revenue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365760" y="6967728"/>
            <a:ext cx="11457432" cy="292608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20624" y="703173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% of Revenue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3895344" y="703173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5175504" y="703173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6455664" y="703173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850" dirty="0"/>
          </a:p>
        </p:txBody>
      </p:sp>
      <p:sp>
        <p:nvSpPr>
          <p:cNvPr id="132" name="Text 130"/>
          <p:cNvSpPr/>
          <p:nvPr/>
        </p:nvSpPr>
        <p:spPr>
          <a:xfrm>
            <a:off x="7735824" y="7031736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33" name="Text 131"/>
          <p:cNvSpPr/>
          <p:nvPr/>
        </p:nvSpPr>
        <p:spPr>
          <a:xfrm>
            <a:off x="9015984" y="7031736"/>
            <a:ext cx="3090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Rapidly declining ratio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365760" y="6089904"/>
            <a:ext cx="11457432" cy="292608"/>
          </a:xfrm>
          <a:prstGeom prst="rect">
            <a:avLst/>
          </a:prstGeom>
          <a:solidFill>
            <a:srgbClr val="1A1508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65760" y="6089904"/>
            <a:ext cx="11457432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6" name="Shape 134"/>
          <p:cNvSpPr/>
          <p:nvPr/>
        </p:nvSpPr>
        <p:spPr>
          <a:xfrm>
            <a:off x="365760" y="2286000"/>
            <a:ext cx="11457432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37" name="Shape 135"/>
          <p:cNvSpPr/>
          <p:nvPr/>
        </p:nvSpPr>
        <p:spPr>
          <a:xfrm>
            <a:off x="365760" y="3749040"/>
            <a:ext cx="11457432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38" name="Shape 136"/>
          <p:cNvSpPr/>
          <p:nvPr/>
        </p:nvSpPr>
        <p:spPr>
          <a:xfrm>
            <a:off x="365760" y="4626864"/>
            <a:ext cx="11457432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39" name="Shape 137"/>
          <p:cNvSpPr/>
          <p:nvPr/>
        </p:nvSpPr>
        <p:spPr>
          <a:xfrm>
            <a:off x="365760" y="5504688"/>
            <a:ext cx="11457432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40" name="Shape 138"/>
          <p:cNvSpPr/>
          <p:nvPr/>
        </p:nvSpPr>
        <p:spPr>
          <a:xfrm>
            <a:off x="365760" y="6492240"/>
            <a:ext cx="11457432" cy="228600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02920" y="651052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NOTE: Total 3-year CapEx of ₹29 Cr compares to ₹1,200+ Cr Spinny spent on inventory. Asset-light model achieves equivalent market presence at 2.4% of competitor CapEx.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16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—  OPERATING EXPENDITURE  ·  3-YEAR EVOLUTION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OPEX SCALES AT 0.4x REVENUE GROWTH RATE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1457432" cy="297180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42516"/>
            <a:ext cx="1145743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636776"/>
            <a:ext cx="263347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OPEX CATEGORY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163824" y="163677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61104" y="163677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Rev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38344" y="163677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FY2027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35624" y="163677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Rev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912864" y="163677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FY2028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010144" y="163677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Rev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787384" y="1636776"/>
            <a:ext cx="28163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1869948"/>
            <a:ext cx="11457432" cy="297180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1933956"/>
            <a:ext cx="263347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COSTS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63824" y="193395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61104" y="193395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38344" y="193395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35624" y="193395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912864" y="193395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010144" y="193395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87384" y="1933956"/>
            <a:ext cx="28163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167128"/>
            <a:ext cx="11457432" cy="297180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2231136"/>
            <a:ext cx="263347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(30→55→80 FTEs)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163824" y="223113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₹10.8 Cr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61104" y="223113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38344" y="223113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₹19.8 Cr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35624" y="223113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12864" y="223113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₹28.8 Cr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10144" y="223113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787384" y="2231136"/>
            <a:ext cx="28163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CTC ₹36L; AI-augmented productivity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2464308"/>
            <a:ext cx="11457432" cy="297180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2528316"/>
            <a:ext cx="263347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Design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163824" y="252831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 Cr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261104" y="252831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38344" y="252831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₹5.4 Cr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35624" y="252831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12864" y="252831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₹7.2 Cr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010144" y="252831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787384" y="2528316"/>
            <a:ext cx="28163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team; design system reuse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2761488"/>
            <a:ext cx="11457432" cy="297180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2825496"/>
            <a:ext cx="263347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BD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163824" y="282549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₹8.0 Cr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261104" y="282549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038344" y="282549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₹14.0 Cr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135624" y="282549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912864" y="282549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₹20.0 Cr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10144" y="282549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787384" y="2825496"/>
            <a:ext cx="28163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acquisition; field + digital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65760" y="3058668"/>
            <a:ext cx="11457432" cy="297180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" y="3122676"/>
            <a:ext cx="263347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163824" y="312267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₹6.0 Cr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261104" y="312267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038344" y="312267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₹12.0 Cr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135624" y="312267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12864" y="312267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₹18.0 Cr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010144" y="312267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787384" y="3122676"/>
            <a:ext cx="28163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SEO-first; paid performance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5760" y="3355848"/>
            <a:ext cx="11457432" cy="297180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0624" y="3419856"/>
            <a:ext cx="263347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&amp; Support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163824" y="341985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₹3.0 Cr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261104" y="341985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038344" y="341985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₹5.4 Cr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135624" y="341985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912864" y="341985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₹7.2 Cr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010144" y="341985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787384" y="3419856"/>
            <a:ext cx="28163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scales with users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65760" y="3653028"/>
            <a:ext cx="11457432" cy="297180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0624" y="3717036"/>
            <a:ext cx="263347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G&amp;A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163824" y="371703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₹5.0 Cr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261104" y="371703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038344" y="371703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₹7.6 Cr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135624" y="371703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912864" y="371703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₹10.8 Cr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010144" y="371703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8787384" y="3717036"/>
            <a:ext cx="28163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Finance, Legal, HR, Admin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65760" y="3950208"/>
            <a:ext cx="11457432" cy="297180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0624" y="4014216"/>
            <a:ext cx="263347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3163824" y="401421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4261104" y="401421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038344" y="401421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135624" y="401421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912864" y="401421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8010144" y="401421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787384" y="4014216"/>
            <a:ext cx="28163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65760" y="4247388"/>
            <a:ext cx="11457432" cy="297180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0624" y="4311396"/>
            <a:ext cx="263347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DevOps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3163824" y="431139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₹2.8 Cr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4261104" y="431139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038344" y="431139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₹5.2 Cr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135624" y="431139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912864" y="431139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₹8.8 Cr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8010144" y="431139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8787384" y="4311396"/>
            <a:ext cx="28163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Vercel, Supabase, AWS; step-function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65760" y="4544568"/>
            <a:ext cx="11457432" cy="297180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20624" y="4608576"/>
            <a:ext cx="263347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API Costs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3163824" y="460857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₹3.2 Cr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4261104" y="460857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5038344" y="460857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₹5.8 Cr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6135624" y="460857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6912864" y="460857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₹9.2 Cr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8010144" y="460857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8787384" y="4608576"/>
            <a:ext cx="28163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Parivahan, OEM, Insurance APIs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365760" y="4841748"/>
            <a:ext cx="11457432" cy="297180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20624" y="4905756"/>
            <a:ext cx="263347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OPEX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3163824" y="490575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₹42.4 Cr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4261104" y="490575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50.5%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5038344" y="490575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₹75.2 Cr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6135624" y="490575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32.4%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6912864" y="490575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₹110.0 Cr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8010144" y="490575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21.9%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8787384" y="4905756"/>
            <a:ext cx="28163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365760" y="5138928"/>
            <a:ext cx="11457432" cy="297180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20624" y="5202936"/>
            <a:ext cx="263347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COGS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3163824" y="520293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₹22.4 Cr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4261104" y="520293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26.7%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5038344" y="520293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₹53.4 Cr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6135624" y="520293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23.0%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6912864" y="520293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₹101.1 Cr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8010144" y="520293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8787384" y="5202936"/>
            <a:ext cx="28163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365760" y="5436108"/>
            <a:ext cx="11457432" cy="297180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20624" y="5500116"/>
            <a:ext cx="263347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COSTS (OPEX+COGS)</a:t>
            </a:r>
            <a:endParaRPr lang="en-US" sz="850" dirty="0"/>
          </a:p>
        </p:txBody>
      </p:sp>
      <p:sp>
        <p:nvSpPr>
          <p:cNvPr id="126" name="Text 124"/>
          <p:cNvSpPr/>
          <p:nvPr/>
        </p:nvSpPr>
        <p:spPr>
          <a:xfrm>
            <a:off x="3163824" y="550011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₹64.8 Cr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4261104" y="550011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77.1%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5038344" y="550011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₹128.6 Cr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6135624" y="550011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55.4%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6912864" y="550011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₹211.1 Cr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8010144" y="550011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42.0%</a:t>
            </a:r>
            <a:endParaRPr lang="en-US" sz="850" dirty="0"/>
          </a:p>
        </p:txBody>
      </p:sp>
      <p:sp>
        <p:nvSpPr>
          <p:cNvPr id="132" name="Text 130"/>
          <p:cNvSpPr/>
          <p:nvPr/>
        </p:nvSpPr>
        <p:spPr>
          <a:xfrm>
            <a:off x="8787384" y="5500116"/>
            <a:ext cx="28163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365760" y="5733288"/>
            <a:ext cx="11457432" cy="297180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20624" y="5797296"/>
            <a:ext cx="263347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3163824" y="579729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₹5.6 Cr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4261104" y="579729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850" dirty="0"/>
          </a:p>
        </p:txBody>
      </p:sp>
      <p:sp>
        <p:nvSpPr>
          <p:cNvPr id="137" name="Text 135"/>
          <p:cNvSpPr/>
          <p:nvPr/>
        </p:nvSpPr>
        <p:spPr>
          <a:xfrm>
            <a:off x="5038344" y="579729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₹74.6 Cr</a:t>
            </a:r>
            <a:endParaRPr lang="en-US" sz="850" dirty="0"/>
          </a:p>
        </p:txBody>
      </p:sp>
      <p:sp>
        <p:nvSpPr>
          <p:cNvPr id="138" name="Text 136"/>
          <p:cNvSpPr/>
          <p:nvPr/>
        </p:nvSpPr>
        <p:spPr>
          <a:xfrm>
            <a:off x="6135624" y="579729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32.2%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6912864" y="5797296"/>
            <a:ext cx="9875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₹240.9 Cr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8010144" y="5797296"/>
            <a:ext cx="66751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47.9%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8787384" y="5797296"/>
            <a:ext cx="281635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365760" y="1869948"/>
            <a:ext cx="11457432" cy="29718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43" name="Shape 141"/>
          <p:cNvSpPr/>
          <p:nvPr/>
        </p:nvSpPr>
        <p:spPr>
          <a:xfrm>
            <a:off x="365760" y="3653028"/>
            <a:ext cx="11457432" cy="29718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44" name="Shape 142"/>
          <p:cNvSpPr/>
          <p:nvPr/>
        </p:nvSpPr>
        <p:spPr>
          <a:xfrm>
            <a:off x="365760" y="4544568"/>
            <a:ext cx="11457432" cy="297180"/>
          </a:xfrm>
          <a:prstGeom prst="rect">
            <a:avLst/>
          </a:prstGeom>
          <a:solidFill>
            <a:srgbClr val="2E2E2E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65760" y="4841748"/>
            <a:ext cx="11457432" cy="297180"/>
          </a:xfrm>
          <a:prstGeom prst="rect">
            <a:avLst/>
          </a:prstGeom>
          <a:solidFill>
            <a:srgbClr val="1A1508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65760" y="5138928"/>
            <a:ext cx="11457432" cy="297180"/>
          </a:xfrm>
          <a:prstGeom prst="rect">
            <a:avLst/>
          </a:prstGeom>
          <a:solidFill>
            <a:srgbClr val="1A1508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65760" y="5436108"/>
            <a:ext cx="11457432" cy="297180"/>
          </a:xfrm>
          <a:prstGeom prst="rect">
            <a:avLst/>
          </a:prstGeom>
          <a:solidFill>
            <a:srgbClr val="0A1A0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65760" y="5436108"/>
            <a:ext cx="1145743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9" name="Shape 147"/>
          <p:cNvSpPr/>
          <p:nvPr/>
        </p:nvSpPr>
        <p:spPr>
          <a:xfrm>
            <a:off x="365760" y="6327648"/>
            <a:ext cx="11457432" cy="365760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65760" y="6327648"/>
            <a:ext cx="11457432" cy="36576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151" name="Text 149"/>
          <p:cNvSpPr/>
          <p:nvPr/>
        </p:nvSpPr>
        <p:spPr>
          <a:xfrm>
            <a:off x="502920" y="637336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OpEx as % of revenue drops from 50.5% (Y1) → 32.4% (Y2) → 21.9% (Y3). This is the operating leverage of a SaaS + data business. Every ₹10 Cr of incremental revenue in Y3 adds only ₹2.2 Cr of additional OpEx — 78% incremental EBITDA margin.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16</a:t>
            </a:r>
            <a:endParaRPr lang="en-US" sz="800" dirty="0"/>
          </a:p>
        </p:txBody>
      </p:sp>
      <p:sp>
        <p:nvSpPr>
          <p:cNvPr id="153" name="Text 151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—  UNIT ECONOMICS  ·  CAC · LTV · PAYBACK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LTV:CAC = 9.4x FOR DEALERS.  34x FOR B2B.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5669280" cy="489204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72768"/>
            <a:ext cx="5669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2763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DEALER SEGMENT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993392"/>
            <a:ext cx="544982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(blended Year 1)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71800" y="20574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₹1,200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0" y="20574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acquiring one paid dealer (field + digital mix)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5488" y="2409444"/>
            <a:ext cx="5449824" cy="38404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734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(Year 3 target)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71800" y="24734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₹380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24734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organic SEO and referrals dominate acquisition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75488" y="2825496"/>
            <a:ext cx="544982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895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/ Dealer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71800" y="28895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₹5,800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288950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Blended: SaaS ₹2,999 + loan commissions ₹2,800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5488" y="3241548"/>
            <a:ext cx="5449824" cy="38404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055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on Dealer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971800" y="33055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06240" y="330555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support, account management, API costs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5488" y="3657600"/>
            <a:ext cx="544982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216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Gross Profit / Dealer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971800" y="37216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₹4,120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06240" y="37216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of all variable service costs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5488" y="4073652"/>
            <a:ext cx="5449824" cy="38404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376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 (Y1)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971800" y="41376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 months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06240" y="41376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₹1,200 CAC ÷ ₹285/month gross profit (early stage)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5488" y="4489704"/>
            <a:ext cx="544982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5537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 (Y3)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971800" y="45537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 months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06240" y="45537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CAC drops and ARPU grows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5488" y="4905756"/>
            <a:ext cx="5449824" cy="38404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9697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LTV (3-year horizon)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971800" y="49697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₹14,800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06240" y="496976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₹4,120/mo × 12 × 30% annual churn adjustment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75488" y="5321808"/>
            <a:ext cx="544982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3858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: CAC Ratio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971800" y="538581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9.4x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06240" y="538581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Y1 CAC; improves to 39x at Y3 CAC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5488" y="5737860"/>
            <a:ext cx="5449824" cy="38404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58018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Churn Rate (target)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971800" y="58018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&lt;8%/yr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206240" y="58018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DealerOS is core to their operations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5488" y="6153912"/>
            <a:ext cx="544982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6217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Revenue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971800" y="62179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+35%/yr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206240" y="62179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 upgrade tiers as they see ROI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309360" y="1572768"/>
            <a:ext cx="5669280" cy="489204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9360" y="1572768"/>
            <a:ext cx="5669280" cy="36576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55" name="Text 53"/>
          <p:cNvSpPr/>
          <p:nvPr/>
        </p:nvSpPr>
        <p:spPr>
          <a:xfrm>
            <a:off x="6446520" y="162763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 DATA (DEMANDPULSE)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419088" y="1993392"/>
            <a:ext cx="544982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92240" y="20574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(enterprise contract)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915400" y="20574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₹2.8L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149840" y="20574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cost per bank/insurer/OEM contract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419088" y="2409444"/>
            <a:ext cx="5449824" cy="38404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24734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Contract Value (ACV)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915400" y="24734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₹5.2L/yr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149840" y="24734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across banks, insurers, OEMs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419088" y="2825496"/>
            <a:ext cx="544982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92240" y="28895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on B2B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915400" y="28895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149840" y="288950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Near-zero marginal cost per API call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419088" y="3241548"/>
            <a:ext cx="5449824" cy="38404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92240" y="33055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Gross Profit / Contract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915400" y="33055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₹4.26L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149840" y="330555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infrastructure and BD cost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419088" y="3657600"/>
            <a:ext cx="544982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92240" y="37216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8915400" y="37216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7.9 months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0149840" y="37216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₹2.8L CAC ÷ ₹35,500/mo gross profit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419088" y="4073652"/>
            <a:ext cx="5449824" cy="38404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92240" y="41376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Length (avg)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8915400" y="41376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2.8 years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0149840" y="41376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Multi-year agreements with auto-renew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419088" y="4489704"/>
            <a:ext cx="544982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92240" y="45537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Retention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915400" y="45537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118%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10149840" y="45537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Upsell: more data products, higher volumes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6419088" y="4905756"/>
            <a:ext cx="5449824" cy="38404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92240" y="49697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(3-year contract)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8915400" y="49697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₹9.6L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149840" y="496976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× 3 × 82% margin × 90% renewal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419088" y="5321808"/>
            <a:ext cx="544982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92240" y="53858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: CAC Ratio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8915400" y="538581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34x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10149840" y="538581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₹9.6L LTV ÷ ₹2.8L CAC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6419088" y="5737860"/>
            <a:ext cx="5449824" cy="384048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92240" y="58018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8915400" y="58018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&lt;5%/yr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10149840" y="58018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dependency creates switching costs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6419088" y="6153912"/>
            <a:ext cx="544982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92240" y="6217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Expand Model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8915400" y="62179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3–5 products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10149840" y="62179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start with pricing, add risk, add portfolio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365760" y="6537960"/>
            <a:ext cx="11457432" cy="201168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02920" y="6556248"/>
            <a:ext cx="11183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BENCHMARK: Blended LTV:CAC of 12x against SaaS industry standard of 3:1. Payback period of &lt;5 months vs. 18–24 months for typical B2C marketplaces. These metrics justify aggressive growth investment.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16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—  CASH FLOW STATEMENT  ·  3-YEAR PROJECTION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CASH FLOW POSITIVE BY Q2 FY2027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1457432" cy="301752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47088"/>
            <a:ext cx="1145743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636776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 FLOW ITEM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55264" y="163677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Y1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443984" y="163677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Y1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632704" y="163677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Y1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821424" y="163677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Y1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010144" y="1636776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FY2026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290304" y="1636776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FY2027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616184" y="1636776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FY2028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1874520"/>
            <a:ext cx="11457432" cy="30175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1938528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CASH FLOWS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55264" y="1938528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43984" y="1938528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32704" y="1938528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21424" y="1938528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10144" y="1938528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290304" y="1938528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616184" y="1938528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176272"/>
            <a:ext cx="11457432" cy="30175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2240280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Receipts (Revenue)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55264" y="2240280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 Cr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43984" y="2240280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₹16 Cr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32704" y="2240280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 Cr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21424" y="2240280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₹32 Cr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10144" y="2240280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₹84 Cr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290304" y="2240280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₹232 Cr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616184" y="2240280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₹503 Cr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2478024"/>
            <a:ext cx="11457432" cy="30175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2542032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Paid — COGS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55264" y="2542032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(₹5.2 Cr)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43984" y="2542032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(₹5.8 Cr)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32704" y="2542032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(₹5.6 Cr)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821424" y="2542032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(₹5.8 Cr)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10144" y="2542032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(₹22.4 Cr)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290304" y="2542032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(₹53 Cr)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616184" y="2542032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(₹101 Cr)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2779776"/>
            <a:ext cx="11457432" cy="30175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2843784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Paid — OpEx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55264" y="2843784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(₹11.2 Cr)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443984" y="2843784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(₹11.0 Cr)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632704" y="2843784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(₹10.8 Cr)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21424" y="2843784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(₹9.4 Cr)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010144" y="2843784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(₹42.4 Cr)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9290304" y="2843784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(₹75 Cr)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616184" y="2843784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(₹110 Cr)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65760" y="3081528"/>
            <a:ext cx="11457432" cy="30175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" y="3145536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Operating Cash Flow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255264" y="314553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(₹4.4 Cr)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443984" y="314553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(₹0.8 Cr)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632704" y="314553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₹7.6 Cr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821424" y="314553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₹16.8 Cr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010144" y="3145536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₹19.2 Cr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290304" y="3145536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₹104 Cr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0616184" y="3145536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₹292 Cr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5760" y="3383280"/>
            <a:ext cx="11457432" cy="30175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0624" y="3447288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INVESTING CASH FLOWS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255264" y="3447288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443984" y="3447288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632704" y="3447288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821424" y="3447288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010144" y="3447288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290304" y="3447288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0616184" y="3447288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65760" y="3685032"/>
            <a:ext cx="11457432" cy="30175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0624" y="3749040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— Technology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255264" y="3749040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(₹5.8 Cr)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443984" y="3749040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(₹4.2 Cr)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632704" y="3749040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(₹2.5 Cr)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821424" y="3749040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(₹1.8 Cr)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010144" y="3749040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(₹14.3 Cr)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9290304" y="3749040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(₹9.0 Cr)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0616184" y="3749040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(₹5.7 Cr)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65760" y="3986784"/>
            <a:ext cx="11457432" cy="30175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0624" y="4050792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INVESTING CASH FLOW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3255264" y="4050792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(₹5.8 Cr)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4443984" y="4050792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(₹4.2 Cr)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632704" y="4050792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(₹2.5 Cr)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821424" y="4050792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(₹1.8 Cr)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8010144" y="4050792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(₹14.3 Cr)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9290304" y="4050792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(₹9.0 Cr)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0616184" y="4050792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(₹5.7 Cr)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65760" y="4288536"/>
            <a:ext cx="11457432" cy="30175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0624" y="4352544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CASH FLOWS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3255264" y="4352544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4443984" y="4352544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632704" y="4352544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821424" y="4352544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8010144" y="4352544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9290304" y="4352544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10616184" y="4352544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65760" y="4590288"/>
            <a:ext cx="11457432" cy="30175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20624" y="4654296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/ Series A Raise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3255264" y="465429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 Cr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4443984" y="465429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5632704" y="465429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6821424" y="465429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8010144" y="4654296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 Cr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9290304" y="4654296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₹80 Cr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10616184" y="4654296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365760" y="4892040"/>
            <a:ext cx="11457432" cy="30175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20624" y="4956048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Repayment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3255264" y="4956048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4443984" y="4956048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5632704" y="4956048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6821424" y="4956048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8010144" y="4956048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9290304" y="4956048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(₹2 Cr)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10616184" y="4956048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(₹2 Cr)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365760" y="5193792"/>
            <a:ext cx="11457432" cy="30175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20624" y="5257800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FINANCING CASH FLOW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3255264" y="5257800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 Cr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4443984" y="5257800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5632704" y="5257800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6821424" y="5257800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8010144" y="5257800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 Cr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9290304" y="5257800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 Cr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10616184" y="5257800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(₹2 Cr)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365760" y="5495544"/>
            <a:ext cx="11457432" cy="30175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20624" y="5559552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CHANGE IN CASH</a:t>
            </a:r>
            <a:endParaRPr lang="en-US" sz="850" dirty="0"/>
          </a:p>
        </p:txBody>
      </p:sp>
      <p:sp>
        <p:nvSpPr>
          <p:cNvPr id="126" name="Text 124"/>
          <p:cNvSpPr/>
          <p:nvPr/>
        </p:nvSpPr>
        <p:spPr>
          <a:xfrm>
            <a:off x="3255264" y="5559552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₹29.8 Cr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4443984" y="5559552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(₹5.0 Cr)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5632704" y="5559552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₹5.1 Cr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6821424" y="5559552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₹15.0 Cr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8010144" y="5559552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₹44.9 Cr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9290304" y="5559552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 Cr</a:t>
            </a:r>
            <a:endParaRPr lang="en-US" sz="850" dirty="0"/>
          </a:p>
        </p:txBody>
      </p:sp>
      <p:sp>
        <p:nvSpPr>
          <p:cNvPr id="132" name="Text 130"/>
          <p:cNvSpPr/>
          <p:nvPr/>
        </p:nvSpPr>
        <p:spPr>
          <a:xfrm>
            <a:off x="10616184" y="5559552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₹284 Cr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365760" y="5797296"/>
            <a:ext cx="11457432" cy="30175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20624" y="5861304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CASH BALANCE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3255264" y="5861304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₹29.8 Cr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4443984" y="5861304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₹24.8 Cr</a:t>
            </a:r>
            <a:endParaRPr lang="en-US" sz="850" dirty="0"/>
          </a:p>
        </p:txBody>
      </p:sp>
      <p:sp>
        <p:nvSpPr>
          <p:cNvPr id="137" name="Text 135"/>
          <p:cNvSpPr/>
          <p:nvPr/>
        </p:nvSpPr>
        <p:spPr>
          <a:xfrm>
            <a:off x="5632704" y="5861304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₹29.9 Cr</a:t>
            </a:r>
            <a:endParaRPr lang="en-US" sz="850" dirty="0"/>
          </a:p>
        </p:txBody>
      </p:sp>
      <p:sp>
        <p:nvSpPr>
          <p:cNvPr id="138" name="Text 136"/>
          <p:cNvSpPr/>
          <p:nvPr/>
        </p:nvSpPr>
        <p:spPr>
          <a:xfrm>
            <a:off x="6821424" y="5861304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₹44.9 Cr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8010144" y="5861304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₹44.9 Cr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9290304" y="5861304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₹218 Cr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10616184" y="5861304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₹502 Cr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365760" y="6099048"/>
            <a:ext cx="11457432" cy="30175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20624" y="6163056"/>
            <a:ext cx="27249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(months at burn rate)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3255264" y="616305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4443984" y="616305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mo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5632704" y="616305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mo+</a:t>
            </a:r>
            <a:endParaRPr lang="en-US" sz="850" dirty="0"/>
          </a:p>
        </p:txBody>
      </p:sp>
      <p:sp>
        <p:nvSpPr>
          <p:cNvPr id="147" name="Text 145"/>
          <p:cNvSpPr/>
          <p:nvPr/>
        </p:nvSpPr>
        <p:spPr>
          <a:xfrm>
            <a:off x="6821424" y="6163056"/>
            <a:ext cx="10789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Self-funding</a:t>
            </a:r>
            <a:endParaRPr lang="en-US" sz="850" dirty="0"/>
          </a:p>
        </p:txBody>
      </p:sp>
      <p:sp>
        <p:nvSpPr>
          <p:cNvPr id="148" name="Text 146"/>
          <p:cNvSpPr/>
          <p:nvPr/>
        </p:nvSpPr>
        <p:spPr>
          <a:xfrm>
            <a:off x="8010144" y="6163056"/>
            <a:ext cx="1170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49" name="Text 147"/>
          <p:cNvSpPr/>
          <p:nvPr/>
        </p:nvSpPr>
        <p:spPr>
          <a:xfrm>
            <a:off x="9290304" y="6163056"/>
            <a:ext cx="12161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50" name="Text 148"/>
          <p:cNvSpPr/>
          <p:nvPr/>
        </p:nvSpPr>
        <p:spPr>
          <a:xfrm>
            <a:off x="10616184" y="6163056"/>
            <a:ext cx="13075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365760" y="1874520"/>
            <a:ext cx="11457432" cy="301752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52" name="Shape 150"/>
          <p:cNvSpPr/>
          <p:nvPr/>
        </p:nvSpPr>
        <p:spPr>
          <a:xfrm>
            <a:off x="365760" y="3383280"/>
            <a:ext cx="11457432" cy="301752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53" name="Shape 151"/>
          <p:cNvSpPr/>
          <p:nvPr/>
        </p:nvSpPr>
        <p:spPr>
          <a:xfrm>
            <a:off x="365760" y="4288536"/>
            <a:ext cx="11457432" cy="301752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65760" y="5797296"/>
            <a:ext cx="11457432" cy="301752"/>
          </a:xfrm>
          <a:prstGeom prst="rect">
            <a:avLst/>
          </a:prstGeom>
          <a:solidFill>
            <a:srgbClr val="0A1A0A"/>
          </a:solidFill>
          <a:ln w="6350">
            <a:solidFill>
              <a:srgbClr val="3DBE7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65760" y="5797296"/>
            <a:ext cx="11457432" cy="22860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156" name="Shape 154"/>
          <p:cNvSpPr/>
          <p:nvPr/>
        </p:nvSpPr>
        <p:spPr>
          <a:xfrm>
            <a:off x="365760" y="6510528"/>
            <a:ext cx="11457432" cy="219456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65760" y="6510528"/>
            <a:ext cx="11457432" cy="36576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158" name="Text 156"/>
          <p:cNvSpPr/>
          <p:nvPr/>
        </p:nvSpPr>
        <p:spPr>
          <a:xfrm>
            <a:off x="502920" y="6547104"/>
            <a:ext cx="11183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ANALYSIS: Seed raise of ₹40 Cr provides 22 months runway before cash-flow positive. Series A of ₹80 Cr in Y2 to accelerate DealerOS rollout and B2B API sales. Business becomes self-funding by Q3 Y2 on organic cashflow.</a:t>
            </a:r>
            <a:endParaRPr lang="en-US" sz="750" dirty="0"/>
          </a:p>
        </p:txBody>
      </p:sp>
      <p:sp>
        <p:nvSpPr>
          <p:cNvPr id="159" name="Text 157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16</a:t>
            </a:r>
            <a:endParaRPr lang="en-US" sz="800" dirty="0"/>
          </a:p>
        </p:txBody>
      </p:sp>
      <p:sp>
        <p:nvSpPr>
          <p:cNvPr id="160" name="Text 158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—  FUNDING STRATEGY  ·  CAPITAL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₹180 CR TOTAL RAISE TO ₹8,200 CR VALUATION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1457432" cy="1572768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11457432" cy="36576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554480"/>
            <a:ext cx="1280160" cy="157276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2026 (NOW)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73736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₹15–20 Cr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210312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Pre-money: ₹120–150 Cr pre-money  ·  Dilution: 12–15%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737360" y="235915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 Platform completion, first 500 dealers, Vahan API integration, core team (35 FTEs)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37360" y="2633472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INVESTORS: Angel syndicates, Auto industry angels, Early-stage VCs (Blume, Stellaris)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37360" y="2852928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MILESTONES: 500 paying dealers · VehiclePassport live · ₹6 Cr MRR by close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3218688"/>
            <a:ext cx="11457432" cy="1572768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18688"/>
            <a:ext cx="1145743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218688"/>
            <a:ext cx="1280160" cy="157276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6758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SERIES 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" y="4133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2026 (9 months)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737360" y="33101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₹60–80 Cr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37360" y="376732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Pre-money: ₹500–700 Cr pre-money  ·  Dilution: 12–15%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737360" y="40233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 DealerOS scale to 5,000 dealers, DemandPulse B2B contracts, 22-city ops, 80-person team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737360" y="4297680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INVESTORS: Tier-1 VCs (Peak XV, Matrix, Lightspeed), strategic: Maruti, HDFC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37360" y="4517136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MILESTONES: 5K dealers · ₹20 Cr ARR · 10 B2B contracts · positive unit economics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4882896"/>
            <a:ext cx="11457432" cy="1572768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882896"/>
            <a:ext cx="11457432" cy="36576"/>
          </a:xfrm>
          <a:prstGeom prst="rect">
            <a:avLst/>
          </a:prstGeom>
          <a:solidFill>
            <a:srgbClr val="9B6DD4"/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" y="4882896"/>
            <a:ext cx="1280160" cy="157276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534009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6D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SERIES B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65760" y="57972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2028 (24 months)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737360" y="49743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6D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₹100–120 Cr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43153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Pre-money: ₹2,000–3,000 Cr pre-money  ·  Dilution: 8–12%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737360" y="568756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 Mobile app, CrossState national rollout, NBFC license, international (Middle East, SEA)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737360" y="5961888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INVESTORS: Growth PE (WestBridge, General Atlantic, Tiger), strategic auto OEMs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37360" y="6181344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6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MILESTONES: ₹100 Cr ARR · 25K dealers · EBITDA positive · 3 international cities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—  VALUATION METRICS  ·  COMPARABLE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₹8,200 CR VALUATION BY YEAR 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COMPARABLE COMPANY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11457432" cy="347472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75688"/>
            <a:ext cx="1145743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819656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980944" y="181965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(TTM)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443984" y="1819656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/ REVENUE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678424" y="1819656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/ EBITDA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912864" y="181965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EBITDA MARGIN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375904" y="1819656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VALUATION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387584" y="1819656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A7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11457432" cy="34747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167128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CarDekho Group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80944" y="2167128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₹550 Cr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43984" y="2167128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9.5x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78424" y="2167128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912864" y="2167128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Loss-making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375904" y="2167128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$1.2B / ₹10,000 Cr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387584" y="2167128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Pre-IPO; strong brand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450592"/>
            <a:ext cx="11457432" cy="34747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2514600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Cars24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80944" y="251460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₹1,800 Cr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43984" y="2514600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6.2x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78424" y="2514600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12864" y="251460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Loss-making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375904" y="2514600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$3.3B / ₹27,000 Cr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387584" y="2514600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Peak; heavy opex model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2798064"/>
            <a:ext cx="11457432" cy="34747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2862072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Spinny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980944" y="2862072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₹420 Cr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443984" y="2862072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7.8x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78424" y="2862072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12864" y="2862072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Loss-making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375904" y="286207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$1.8B / ₹15,000 Cr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387584" y="286207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Asset-heavy B2C model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3145536"/>
            <a:ext cx="11457432" cy="34747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" y="3209544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Droom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980944" y="3209544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₹280 Cr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443984" y="3209544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4.2x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78424" y="3209544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12864" y="3209544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Loss-making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375904" y="3209544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$1.2B / ₹10,000 Cr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387584" y="3209544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Declining; IPO retracted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" y="3493008"/>
            <a:ext cx="11457432" cy="34747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" y="3557016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IndiaMART (B2B SaaS benchmark)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980944" y="355701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₹1,100 Cr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443984" y="3557016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18x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678424" y="3557016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52x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912864" y="355701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375904" y="3557016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₹20,000 Cr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0387584" y="3557016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SaaS; best comp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65760" y="3840480"/>
            <a:ext cx="11457432" cy="34747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0624" y="3904488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Justdial (local discovery)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980944" y="3904488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₹900 Cr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443984" y="3904488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6x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678424" y="3904488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18x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912864" y="3904488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375904" y="3904488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₹5,400 Cr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0387584" y="3904488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platform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65760" y="4187952"/>
            <a:ext cx="11457432" cy="347472"/>
          </a:xfrm>
          <a:prstGeom prst="rect">
            <a:avLst/>
          </a:prstGeom>
          <a:solidFill>
            <a:srgbClr val="0A0A0A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0624" y="4251960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CarGurus (US, used car AI)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980944" y="425196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$800M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443984" y="4251960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7x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678424" y="4251960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35x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912864" y="425196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375904" y="4251960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$5.6B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0387584" y="4251960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comparable globally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65760" y="4535424"/>
            <a:ext cx="11457432" cy="347472"/>
          </a:xfrm>
          <a:prstGeom prst="rect">
            <a:avLst/>
          </a:prstGeom>
          <a:solidFill>
            <a:srgbClr val="141414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0624" y="4599432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 (Y3 projection)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980944" y="4599432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₹503 Cr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443984" y="4599432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16x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678424" y="4599432"/>
            <a:ext cx="1124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33x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912864" y="4599432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47.9%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8375904" y="459943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₹8,050 Cr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0387584" y="459943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SaaS multiple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65760" y="4535424"/>
            <a:ext cx="11457432" cy="347472"/>
          </a:xfrm>
          <a:prstGeom prst="rect">
            <a:avLst/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5760" y="4535424"/>
            <a:ext cx="1145743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2" name="Text 80"/>
          <p:cNvSpPr/>
          <p:nvPr/>
        </p:nvSpPr>
        <p:spPr>
          <a:xfrm>
            <a:off x="365760" y="46451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VALUATION SCENARIOS  ·  YEAR 3 (FY2028)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65760" y="4864608"/>
            <a:ext cx="3822192" cy="15087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5760" y="4864608"/>
            <a:ext cx="3822192" cy="36576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85" name="Text 83"/>
          <p:cNvSpPr/>
          <p:nvPr/>
        </p:nvSpPr>
        <p:spPr>
          <a:xfrm>
            <a:off x="502920" y="491947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BEAR CASE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502920" y="5230368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₹280 Cr  ·  8x Rev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02920" y="5468112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₹2,240 Cr</a:t>
            </a:r>
            <a:endParaRPr lang="en-US" sz="2600" dirty="0"/>
          </a:p>
        </p:txBody>
      </p:sp>
      <p:sp>
        <p:nvSpPr>
          <p:cNvPr id="88" name="Text 86"/>
          <p:cNvSpPr/>
          <p:nvPr/>
        </p:nvSpPr>
        <p:spPr>
          <a:xfrm>
            <a:off x="502920" y="594360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B2B adoption, dealer churn 15%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315968" y="4864608"/>
            <a:ext cx="3822192" cy="15087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315968" y="4864608"/>
            <a:ext cx="382219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1" name="Text 89"/>
          <p:cNvSpPr/>
          <p:nvPr/>
        </p:nvSpPr>
        <p:spPr>
          <a:xfrm>
            <a:off x="4453128" y="491947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 CASE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4453128" y="5230368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₹503 Cr  ·  16x Rev / 33x EBITDA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4453128" y="5468112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₹8,050 Cr</a:t>
            </a:r>
            <a:endParaRPr lang="en-US" sz="2600" dirty="0"/>
          </a:p>
        </p:txBody>
      </p:sp>
      <p:sp>
        <p:nvSpPr>
          <p:cNvPr id="94" name="Text 92"/>
          <p:cNvSpPr/>
          <p:nvPr/>
        </p:nvSpPr>
        <p:spPr>
          <a:xfrm>
            <a:off x="4453128" y="594360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 dealers, 65 B2B contracts, 47.9% EBITDA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266176" y="4864608"/>
            <a:ext cx="3822192" cy="15087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266176" y="4864608"/>
            <a:ext cx="3822192" cy="36576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97" name="Text 95"/>
          <p:cNvSpPr/>
          <p:nvPr/>
        </p:nvSpPr>
        <p:spPr>
          <a:xfrm>
            <a:off x="8403336" y="491947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BULL CASE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8403336" y="5230368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₹830 Cr  ·  22x Rev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8403336" y="5468112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₹18,260 Cr</a:t>
            </a:r>
            <a:endParaRPr lang="en-US" sz="2600" dirty="0"/>
          </a:p>
        </p:txBody>
      </p:sp>
      <p:sp>
        <p:nvSpPr>
          <p:cNvPr id="100" name="Text 98"/>
          <p:cNvSpPr/>
          <p:nvPr/>
        </p:nvSpPr>
        <p:spPr>
          <a:xfrm>
            <a:off x="8403336" y="594360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market share, NBFC license, 3 intl cities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16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—  KEY ASSUMPTIONS  ·  FINANCIAL MODEL BASIS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ASSUMPTIONS &amp; SENSITIVITY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5669280" cy="237744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5669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 ASSUMPTIONS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" y="2020824"/>
            <a:ext cx="5449824" cy="438912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756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Acquisition Rate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23160" y="207568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500/mo (Y1) → 1,500/mo (Y3)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207568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sales + free tier organic; India has 100,000 dealers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5488" y="2496312"/>
            <a:ext cx="5449824" cy="438912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511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VehiclePassport Attach Rate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23160" y="255117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of used car transactions (Y1) → 25% (Y3)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31920" y="25511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Conservative; Carfax achieves 70% in US mature market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75488" y="2971800"/>
            <a:ext cx="5449824" cy="438912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266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Contract Conversion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23160" y="302666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new contracts/quarter (Y2)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31920" y="30266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banks, 15 insurers, 20 OEMs = 60 addressable in Year 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5488" y="3447288"/>
            <a:ext cx="5449824" cy="438912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0215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Revenue Per Dealer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23160" y="35021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₹5,800/mo blended (Y1) → ₹9,200/mo (Y3)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31920" y="350215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of SaaS + loan commission + listing fees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309360" y="1600200"/>
            <a:ext cx="5669280" cy="237744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600200"/>
            <a:ext cx="5669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16916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 ASSUMPTIONS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19088" y="2020824"/>
            <a:ext cx="5449824" cy="438912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0756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— SaaS/Data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366760" y="207568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74–82%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875520" y="207568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for API/SaaS; marginal cost near zero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419088" y="2496312"/>
            <a:ext cx="5449824" cy="438912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5511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— Marketplace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366760" y="255117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45–52%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875520" y="25511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Inspection: 70% payout, 30% take rate; RC: 60% margin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419088" y="2971800"/>
            <a:ext cx="5449824" cy="438912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0266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— Finance Comm.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366760" y="302666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88–93%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875520" y="30266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referral/commission; no balance sheet risk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419088" y="3447288"/>
            <a:ext cx="5449824" cy="438912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50215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Gross Margin Path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366760" y="35021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 (Y1) → 78% (Y2) → 80% (Y3)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875520" y="350215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higher-margin SaaS mix grows from 40% to 65%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65760" y="4087368"/>
            <a:ext cx="5669280" cy="237744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4087368"/>
            <a:ext cx="5669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41788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ASSUMPTIONS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" y="4507992"/>
            <a:ext cx="5449824" cy="438912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56285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Engineering CTC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423160" y="456285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₹36L/yr (Senior SDE)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931920" y="45628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Bangalore/Mumbai market; below FAANG, above median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75488" y="4983480"/>
            <a:ext cx="5449824" cy="438912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50383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Efficiency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423160" y="50383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₹1,200 → ₹400 by Y3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931920" y="50383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flywheel: 160K pages drive organic leads at near-zero CAC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75488" y="5458968"/>
            <a:ext cx="5449824" cy="438912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55138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 — Dealer SaaS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423160" y="551383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 annual (Y1) → 5% (Y3)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931920" y="551383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dealer dependent on DealerOS pricing tools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5488" y="5934456"/>
            <a:ext cx="5449824" cy="438912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59893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Scaling Curve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423160" y="59893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Step-function; +₹3 Cr per 5x user growth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931920" y="59893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architecture; efficient scaling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309360" y="4087368"/>
            <a:ext cx="5669280" cy="237744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0" y="4087368"/>
            <a:ext cx="5669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5" name="Text 63"/>
          <p:cNvSpPr/>
          <p:nvPr/>
        </p:nvSpPr>
        <p:spPr>
          <a:xfrm>
            <a:off x="6446520" y="41788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 ASSUMPTIONS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19088" y="4507992"/>
            <a:ext cx="5449824" cy="438912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92240" y="456285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Car Market Growth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366760" y="456285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 volume CAGR to 2031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875520" y="45628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ICRA, CRISIL consensus estimate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419088" y="4983480"/>
            <a:ext cx="5449824" cy="438912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92240" y="50383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Penetration Growth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366760" y="50383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(2025) → 35% (2031)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875520" y="50383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by trust improvement — which Autovinci enables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419088" y="5458968"/>
            <a:ext cx="5449824" cy="438912"/>
          </a:xfrm>
          <a:prstGeom prst="rect">
            <a:avLst/>
          </a:prstGeom>
          <a:solidFill>
            <a:srgbClr val="1C1C1C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92240" y="55138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INR/USD Rate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366760" y="551383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₹84 (stable for model purposes)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9875520" y="551383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forex risk; India-domestic business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419088" y="5934456"/>
            <a:ext cx="5449824" cy="438912"/>
          </a:xfrm>
          <a:prstGeom prst="rect">
            <a:avLst/>
          </a:prstGeom>
          <a:solidFill>
            <a:srgbClr val="050505"/>
          </a:solidFill>
          <a:ln w="3810">
            <a:solidFill>
              <a:srgbClr val="2E2E2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92240" y="59893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Rate Environment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8366760" y="59893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rate 6.25% (RBI stable)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9875520" y="59893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material impact; minimal debt in model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16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—  RISK REGISTER  ·  CFO ASSESSMENT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RISKS, MITIGANTS &amp; SENSITIVITIES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1457432" cy="749808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37360"/>
            <a:ext cx="11457432" cy="36576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922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Dealer Adoption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6654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Impact: 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83080" y="20665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Prob: MED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2677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–₹35 Cr Y1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17922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MITIGATION: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43200" y="1975104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with zero barrier to entry. DealerOS must work before charging. Freemium conversion target: 30%.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589520" y="179222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SENSITIVITY: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589520" y="1975104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2,000 dealers instead of 5,000 by end Y1: Revenue ₹52 Cr vs ₹84 Cr. Still cash-flow positive in Y2.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542032"/>
            <a:ext cx="11457432" cy="749808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42032"/>
            <a:ext cx="11457432" cy="36576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968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Parivahan/Vahan API Delays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8712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Impact: HIGH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83080" y="28712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Prob: MED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307238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–₹22 Cr Y1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259689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MITIGATION: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43200" y="2779776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VehiclePassport can launch with manual + OBD data. Parivahan API is government — delays expected. Build fallback pipeline via RTO agents.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589520" y="259689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SENSITIVITY: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589520" y="2779776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Parivahan: VehiclePassport at 60% depth. Charge ₹299 instead of ₹499. Still viable.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3346704"/>
            <a:ext cx="11457432" cy="749808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346704"/>
            <a:ext cx="11457432" cy="36576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4015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Response (Cars24/CardDekho)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67588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Impact: MED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83080" y="36758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Prob: HIGH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87705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–₹20 Cr Y2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0" y="34015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MITIGATION: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743200" y="358444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structurally unable to match: Cars24 is inventory-heavy, CardDekho is ad-funded. DemandPulse B2B and InstantRC require 18-month builds.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589520" y="340156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SENSITIVITY: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589520" y="3584448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if CardDekho copies DealerOS: their dealer churn history (40%+) means ours retains on product quality.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4151376"/>
            <a:ext cx="11457432" cy="749808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151376"/>
            <a:ext cx="11457432" cy="36576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2062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Contract Sales Cycle Length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4805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Impact: MED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783080" y="44805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Prob: MED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" y="46817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–₹15 Cr Y2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0" y="42062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MITIGATION: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743200" y="4389120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3 bank pilots in Q1 at ₹50K/mo proof-of-concept pricing. Land-and-expand. Do not wait for full enterprise deals.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89520" y="4206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SENSITIVITY: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589520" y="4389120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B2B ramps 6 months late: Y2 revenue ₹195 Cr vs ₹232 Cr. No existential risk; operating cash covers.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5760" y="4956048"/>
            <a:ext cx="11457432" cy="749808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4956048"/>
            <a:ext cx="11457432" cy="36576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50109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Change (RTO/Parivahan)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52852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Impact: LOW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783080" y="52852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Prob: LOW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54864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–₹8 Cr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743200" y="501091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MITIGATION: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743200" y="5193792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 transfer and VehiclePassport are additive to government systems, not circumventing them. Low regulatory risk profile.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589520" y="50109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SENSITIVITY: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589520" y="5193792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case: RC transfer feature removed. ₹5 Cr revenue at risk; replaceable with extended warranty product.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65760" y="5760720"/>
            <a:ext cx="11457432" cy="749808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5760720"/>
            <a:ext cx="11457432" cy="36576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58155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 Rate Overrun / Hiring Costs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608990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8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Impact: MED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783080" y="60899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Prob: LOW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57200" y="62910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–₹12 Cr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743200" y="58155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MITIGATION: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743200" y="5998464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headcount caps by department. Engineering productivity measured by features/engineer/quarter. No vanity hires.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589520" y="581558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SENSITIVITY: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589520" y="5998464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cost overrun scenario: EBITDA ₹4.5 Cr (Y1) vs ₹5.6 Cr. Still positive. Runway unaffected if raise completed.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16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72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8136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2144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21" name="Shape 19"/>
          <p:cNvSpPr/>
          <p:nvPr/>
        </p:nvSpPr>
        <p:spPr>
          <a:xfrm>
            <a:off x="12161520" y="0"/>
            <a:ext cx="5486" cy="6858000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94360"/>
            <a:ext cx="12188952" cy="5486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1188720"/>
            <a:ext cx="12188952" cy="5486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1783080"/>
            <a:ext cx="12188952" cy="5486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2377440"/>
            <a:ext cx="12188952" cy="5486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2971800"/>
            <a:ext cx="12188952" cy="5486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3566160"/>
            <a:ext cx="12188952" cy="5486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160520"/>
            <a:ext cx="12188952" cy="5486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754880"/>
            <a:ext cx="12188952" cy="5486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349240"/>
            <a:ext cx="12188952" cy="5486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5943600"/>
            <a:ext cx="12188952" cy="5486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537960"/>
            <a:ext cx="12188952" cy="5486"/>
          </a:xfrm>
          <a:prstGeom prst="rect">
            <a:avLst/>
          </a:prstGeom>
          <a:solidFill>
            <a:srgbClr val="0D0D07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57200"/>
            <a:ext cx="1127455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—  CFO SUMMARY  ·  FINANCIAL NORTH STAR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0" y="82296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0EC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NUMBERS</a:t>
            </a:r>
            <a:endParaRPr lang="en-US" sz="5200" dirty="0"/>
          </a:p>
        </p:txBody>
      </p:sp>
      <p:sp>
        <p:nvSpPr>
          <p:cNvPr id="36" name="Text 34"/>
          <p:cNvSpPr/>
          <p:nvPr/>
        </p:nvSpPr>
        <p:spPr>
          <a:xfrm>
            <a:off x="0" y="132588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THE CASE.</a:t>
            </a:r>
            <a:endParaRPr lang="en-US" sz="5200" dirty="0"/>
          </a:p>
        </p:txBody>
      </p:sp>
      <p:sp>
        <p:nvSpPr>
          <p:cNvPr id="37" name="Shape 35"/>
          <p:cNvSpPr/>
          <p:nvPr/>
        </p:nvSpPr>
        <p:spPr>
          <a:xfrm>
            <a:off x="365760" y="2148840"/>
            <a:ext cx="3822192" cy="17373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2148840"/>
            <a:ext cx="382219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2286000"/>
            <a:ext cx="3822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₹503 Cr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365760" y="297180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Year 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328269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 market share needed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315968" y="2148840"/>
            <a:ext cx="3822192" cy="17373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15968" y="2148840"/>
            <a:ext cx="3822192" cy="36576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44" name="Text 42"/>
          <p:cNvSpPr/>
          <p:nvPr/>
        </p:nvSpPr>
        <p:spPr>
          <a:xfrm>
            <a:off x="4315968" y="2286000"/>
            <a:ext cx="3822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47.9%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4315968" y="297180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 Y3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315968" y="328269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 vs. 0% sector average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266176" y="2148840"/>
            <a:ext cx="3822192" cy="17373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66176" y="2148840"/>
            <a:ext cx="3822192" cy="36576"/>
          </a:xfrm>
          <a:prstGeom prst="rect">
            <a:avLst/>
          </a:prstGeom>
          <a:solidFill>
            <a:srgbClr val="4A8FD4"/>
          </a:solidFill>
          <a:ln/>
        </p:spPr>
      </p:sp>
      <p:sp>
        <p:nvSpPr>
          <p:cNvPr id="49" name="Text 47"/>
          <p:cNvSpPr/>
          <p:nvPr/>
        </p:nvSpPr>
        <p:spPr>
          <a:xfrm>
            <a:off x="8266176" y="2286000"/>
            <a:ext cx="3822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8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₹8,050 Cr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8266176" y="297180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Valuation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266176" y="328269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16x Revenue · 33x EBITDA (Y3)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4069080"/>
            <a:ext cx="3822192" cy="17373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4069080"/>
            <a:ext cx="3822192" cy="36576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4206240"/>
            <a:ext cx="3822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9.4x</a:t>
            </a:r>
            <a:endParaRPr lang="en-US" sz="3600" dirty="0"/>
          </a:p>
        </p:txBody>
      </p:sp>
      <p:sp>
        <p:nvSpPr>
          <p:cNvPr id="55" name="Text 53"/>
          <p:cNvSpPr/>
          <p:nvPr/>
        </p:nvSpPr>
        <p:spPr>
          <a:xfrm>
            <a:off x="365760" y="489204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LTV:CAC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65760" y="520293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in 4.2 months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315968" y="4069080"/>
            <a:ext cx="3822192" cy="17373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15968" y="4069080"/>
            <a:ext cx="3822192" cy="36576"/>
          </a:xfrm>
          <a:prstGeom prst="rect">
            <a:avLst/>
          </a:prstGeom>
          <a:solidFill>
            <a:srgbClr val="9B6DD4"/>
          </a:solidFill>
          <a:ln/>
        </p:spPr>
      </p:sp>
      <p:sp>
        <p:nvSpPr>
          <p:cNvPr id="59" name="Text 57"/>
          <p:cNvSpPr/>
          <p:nvPr/>
        </p:nvSpPr>
        <p:spPr>
          <a:xfrm>
            <a:off x="4315968" y="4206240"/>
            <a:ext cx="3822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6D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₹180 Cr</a:t>
            </a:r>
            <a:endParaRPr lang="en-US" sz="3600" dirty="0"/>
          </a:p>
        </p:txBody>
      </p:sp>
      <p:sp>
        <p:nvSpPr>
          <p:cNvPr id="60" name="Text 58"/>
          <p:cNvSpPr/>
          <p:nvPr/>
        </p:nvSpPr>
        <p:spPr>
          <a:xfrm>
            <a:off x="4315968" y="489204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Funding Required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315968" y="520293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+ Series A + Series B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266176" y="4069080"/>
            <a:ext cx="3822192" cy="173736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66176" y="4069080"/>
            <a:ext cx="3822192" cy="36576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64" name="Text 62"/>
          <p:cNvSpPr/>
          <p:nvPr/>
        </p:nvSpPr>
        <p:spPr>
          <a:xfrm>
            <a:off x="8266176" y="4206240"/>
            <a:ext cx="3822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FY26</a:t>
            </a:r>
            <a:endParaRPr lang="en-US" sz="3600" dirty="0"/>
          </a:p>
        </p:txBody>
      </p:sp>
      <p:sp>
        <p:nvSpPr>
          <p:cNvPr id="65" name="Text 63"/>
          <p:cNvSpPr/>
          <p:nvPr/>
        </p:nvSpPr>
        <p:spPr>
          <a:xfrm>
            <a:off x="8266176" y="489204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Breakeven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266176" y="520293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 from seed close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65760" y="6053328"/>
            <a:ext cx="11457432" cy="594360"/>
          </a:xfrm>
          <a:prstGeom prst="rect">
            <a:avLst/>
          </a:prstGeom>
          <a:solidFill>
            <a:srgbClr val="1C1C1C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6053328"/>
            <a:ext cx="11457432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9" name="Text 67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25 years across CarDekho, MG Motor, and Mahindra First Choice, I have never seen unit economics this clean at pre-seed stage. The LTV:CAC of 9.4x, 47.9% EBITDA at scale, and an uncontested data moat make this the most compelling auto-tech investment case in a decade."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0" y="6656832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  ·  FEBRUARY 2026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1091672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16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CFO FINANCIAL MODEL  · 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2026-02-28T11:11:44Z</dcterms:created>
  <dcterms:modified xsi:type="dcterms:W3CDTF">2026-02-28T11:11:44Z</dcterms:modified>
</cp:coreProperties>
</file>