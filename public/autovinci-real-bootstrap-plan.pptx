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8080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565392"/>
            <a:ext cx="10360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AUTOVINCI  |  BOOTSTRAP FINANCIAL PLAN  |  CONFIDENTIAL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0908792" y="656539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0" y="128016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spc="800" kern="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AUTOVINCI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0" y="24688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Financial Plan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0" y="288036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Self-Funded  |  February 2026  |  Confidential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10996" y="3840480"/>
            <a:ext cx="2286000" cy="914400"/>
          </a:xfrm>
          <a:prstGeom prst="rect">
            <a:avLst>
              <a:gd name="adj" fmla="val 4000"/>
            </a:avLst>
          </a:prstGeom>
          <a:solidFill>
            <a:srgbClr val="13131A"/>
          </a:solidFill>
          <a:ln w="12700">
            <a:solidFill>
              <a:srgbClr val="1F1F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0996" y="3840480"/>
            <a:ext cx="2286000" cy="274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1" name="Text 9"/>
          <p:cNvSpPr/>
          <p:nvPr/>
        </p:nvSpPr>
        <p:spPr>
          <a:xfrm>
            <a:off x="1110996" y="395020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10996" y="418795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Self-Funded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71316" y="3840480"/>
            <a:ext cx="2286000" cy="914400"/>
          </a:xfrm>
          <a:prstGeom prst="rect">
            <a:avLst>
              <a:gd name="adj" fmla="val 4000"/>
            </a:avLst>
          </a:prstGeom>
          <a:solidFill>
            <a:srgbClr val="13131A"/>
          </a:solidFill>
          <a:ln w="12700">
            <a:solidFill>
              <a:srgbClr val="1F1F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71316" y="3840480"/>
            <a:ext cx="2286000" cy="274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5" name="Text 13"/>
          <p:cNvSpPr/>
          <p:nvPr/>
        </p:nvSpPr>
        <p:spPr>
          <a:xfrm>
            <a:off x="3671316" y="395020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671316" y="418795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People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31636" y="3840480"/>
            <a:ext cx="2286000" cy="914400"/>
          </a:xfrm>
          <a:prstGeom prst="rect">
            <a:avLst>
              <a:gd name="adj" fmla="val 4000"/>
            </a:avLst>
          </a:prstGeom>
          <a:solidFill>
            <a:srgbClr val="13131A"/>
          </a:solidFill>
          <a:ln w="12700">
            <a:solidFill>
              <a:srgbClr val="1F1F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31636" y="3840480"/>
            <a:ext cx="2286000" cy="274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6231636" y="395020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BREAKEVEN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231636" y="418795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8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791956" y="3840480"/>
            <a:ext cx="2286000" cy="914400"/>
          </a:xfrm>
          <a:prstGeom prst="rect">
            <a:avLst>
              <a:gd name="adj" fmla="val 4000"/>
            </a:avLst>
          </a:prstGeom>
          <a:solidFill>
            <a:srgbClr val="13131A"/>
          </a:solidFill>
          <a:ln w="12700">
            <a:solidFill>
              <a:srgbClr val="1F1F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91956" y="3840480"/>
            <a:ext cx="2286000" cy="274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3" name="Text 21"/>
          <p:cNvSpPr/>
          <p:nvPr/>
        </p:nvSpPr>
        <p:spPr>
          <a:xfrm>
            <a:off x="8791956" y="395020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 REVENUE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791956" y="418795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₹3.4 Cr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8080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565392"/>
            <a:ext cx="10360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AUTOVINCI  |  BOOTSTRAP FINANCIAL PLAN  |  CONFIDENTIAL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0908792" y="656539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48640" y="22860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8580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India’s used car market is ₹6.4L Cr, growing 15% YoY. Dealers are stuck in the dark ages.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5408676" cy="1554480"/>
          </a:xfrm>
          <a:prstGeom prst="rect">
            <a:avLst>
              <a:gd name="adj" fmla="val 2353"/>
            </a:avLst>
          </a:prstGeom>
          <a:solidFill>
            <a:srgbClr val="13131A"/>
          </a:solidFill>
          <a:ln w="12700">
            <a:solidFill>
              <a:srgbClr val="1F1F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325880"/>
            <a:ext cx="50429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dealers have zero digital tools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24028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Pen-and-paper inventory, WhatsApp-only leads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31636" y="1188720"/>
            <a:ext cx="5408676" cy="1554480"/>
          </a:xfrm>
          <a:prstGeom prst="rect">
            <a:avLst>
              <a:gd name="adj" fmla="val 2353"/>
            </a:avLst>
          </a:prstGeom>
          <a:solidFill>
            <a:srgbClr val="13131A"/>
          </a:solidFill>
          <a:ln w="12700">
            <a:solidFill>
              <a:srgbClr val="1F1F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4516" y="1325880"/>
            <a:ext cx="50429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₹2,400+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414516" y="192024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CAC on CarDekho/OLX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14516" y="224028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Dealers pay premium for low-quality leads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5408676" cy="1554480"/>
          </a:xfrm>
          <a:prstGeom prst="rect">
            <a:avLst>
              <a:gd name="adj" fmla="val 2353"/>
            </a:avLst>
          </a:prstGeom>
          <a:solidFill>
            <a:srgbClr val="13131A"/>
          </a:solidFill>
          <a:ln w="12700">
            <a:solidFill>
              <a:srgbClr val="1F1F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108960"/>
            <a:ext cx="50429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31520" y="370332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India-made DealerOS exists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02336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Shopify-for-dealers in a 50L+ dealer market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31636" y="2971800"/>
            <a:ext cx="5408676" cy="1554480"/>
          </a:xfrm>
          <a:prstGeom prst="rect">
            <a:avLst>
              <a:gd name="adj" fmla="val 2353"/>
            </a:avLst>
          </a:prstGeom>
          <a:solidFill>
            <a:srgbClr val="13131A"/>
          </a:solidFill>
          <a:ln w="12700">
            <a:solidFill>
              <a:srgbClr val="1F1F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14516" y="3108960"/>
            <a:ext cx="50429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414516" y="370332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trust deficit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14516" y="402336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standardized vehicle history or condition reports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8080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565392"/>
            <a:ext cx="10360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AUTOVINCI  |  BOOTSTRAP FINANCIAL PLAN  |  CONFIDENTIAL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0908792" y="656539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48640" y="22860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8580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 production routes. 10 killer features. 37 API endpoints. Zero external funding.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2670048" cy="3474720"/>
          </a:xfrm>
          <a:prstGeom prst="rect">
            <a:avLst>
              <a:gd name="adj" fmla="val 1370"/>
            </a:avLst>
          </a:prstGeom>
          <a:solidFill>
            <a:srgbClr val="13131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188720"/>
            <a:ext cx="2670048" cy="457200"/>
          </a:xfrm>
          <a:prstGeom prst="rect">
            <a:avLst>
              <a:gd name="adj" fmla="val 8000"/>
            </a:avLst>
          </a:prstGeom>
          <a:solidFill>
            <a:srgbClr val="C9A84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188720"/>
            <a:ext cx="2670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1828800"/>
            <a:ext cx="245059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dealership management — inventory, leads, analytics, AI tools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2487168" cy="457200"/>
          </a:xfrm>
          <a:prstGeom prst="rect">
            <a:avLst>
              <a:gd name="adj" fmla="val 6000"/>
            </a:avLst>
          </a:prstGeom>
          <a:solidFill>
            <a:srgbClr val="1A1A2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02336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₹999–2,999/mo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55848" y="1188720"/>
            <a:ext cx="2670048" cy="3474720"/>
          </a:xfrm>
          <a:prstGeom prst="rect">
            <a:avLst>
              <a:gd name="adj" fmla="val 1370"/>
            </a:avLst>
          </a:prstGeom>
          <a:solidFill>
            <a:srgbClr val="13131A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55848" y="1188720"/>
            <a:ext cx="2670048" cy="457200"/>
          </a:xfrm>
          <a:prstGeom prst="rect">
            <a:avLst>
              <a:gd name="adj" fmla="val 8000"/>
            </a:avLst>
          </a:prstGeom>
          <a:solidFill>
            <a:srgbClr val="34C759"/>
          </a:solidFill>
          <a:ln/>
        </p:spPr>
      </p:sp>
      <p:sp>
        <p:nvSpPr>
          <p:cNvPr id="16" name="Text 14"/>
          <p:cNvSpPr/>
          <p:nvPr/>
        </p:nvSpPr>
        <p:spPr>
          <a:xfrm>
            <a:off x="3355848" y="1188720"/>
            <a:ext cx="2670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VehiclePassport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65576" y="1828800"/>
            <a:ext cx="245059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vehicle history and condition report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47288" y="4023360"/>
            <a:ext cx="2487168" cy="457200"/>
          </a:xfrm>
          <a:prstGeom prst="rect">
            <a:avLst>
              <a:gd name="adj" fmla="val 6000"/>
            </a:avLst>
          </a:prstGeom>
          <a:solidFill>
            <a:srgbClr val="1A1A24"/>
          </a:solidFill>
          <a:ln/>
        </p:spPr>
      </p:sp>
      <p:sp>
        <p:nvSpPr>
          <p:cNvPr id="19" name="Text 17"/>
          <p:cNvSpPr/>
          <p:nvPr/>
        </p:nvSpPr>
        <p:spPr>
          <a:xfrm>
            <a:off x="3447288" y="402336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₹299–999/report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63056" y="1188720"/>
            <a:ext cx="2670048" cy="3474720"/>
          </a:xfrm>
          <a:prstGeom prst="rect">
            <a:avLst>
              <a:gd name="adj" fmla="val 1370"/>
            </a:avLst>
          </a:prstGeom>
          <a:solidFill>
            <a:srgbClr val="13131A"/>
          </a:solidFill>
          <a:ln w="12700">
            <a:solidFill>
              <a:srgbClr val="5AC8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63056" y="1188720"/>
            <a:ext cx="2670048" cy="457200"/>
          </a:xfrm>
          <a:prstGeom prst="rect">
            <a:avLst>
              <a:gd name="adj" fmla="val 8000"/>
            </a:avLst>
          </a:prstGeom>
          <a:solidFill>
            <a:srgbClr val="5AC8FA"/>
          </a:solidFill>
          <a:ln/>
        </p:spPr>
      </p:sp>
      <p:sp>
        <p:nvSpPr>
          <p:cNvPr id="22" name="Text 20"/>
          <p:cNvSpPr/>
          <p:nvPr/>
        </p:nvSpPr>
        <p:spPr>
          <a:xfrm>
            <a:off x="6163056" y="1188720"/>
            <a:ext cx="2670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DemandPulse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72784" y="1828800"/>
            <a:ext cx="245059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market intelligence for OEMs, banks, insurers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54496" y="4023360"/>
            <a:ext cx="2487168" cy="457200"/>
          </a:xfrm>
          <a:prstGeom prst="rect">
            <a:avLst>
              <a:gd name="adj" fmla="val 6000"/>
            </a:avLst>
          </a:prstGeom>
          <a:solidFill>
            <a:srgbClr val="1A1A24"/>
          </a:solidFill>
          <a:ln/>
        </p:spPr>
      </p:sp>
      <p:sp>
        <p:nvSpPr>
          <p:cNvPr id="25" name="Text 23"/>
          <p:cNvSpPr/>
          <p:nvPr/>
        </p:nvSpPr>
        <p:spPr>
          <a:xfrm>
            <a:off x="6254496" y="402336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C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₹30K/mo contracts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970264" y="1188720"/>
            <a:ext cx="2670048" cy="3474720"/>
          </a:xfrm>
          <a:prstGeom prst="rect">
            <a:avLst>
              <a:gd name="adj" fmla="val 1370"/>
            </a:avLst>
          </a:prstGeom>
          <a:solidFill>
            <a:srgbClr val="13131A"/>
          </a:solidFill>
          <a:ln w="12700">
            <a:solidFill>
              <a:srgbClr val="FF9F0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70264" y="1188720"/>
            <a:ext cx="2670048" cy="457200"/>
          </a:xfrm>
          <a:prstGeom prst="rect">
            <a:avLst>
              <a:gd name="adj" fmla="val 8000"/>
            </a:avLst>
          </a:prstGeom>
          <a:solidFill>
            <a:srgbClr val="FF9F0A"/>
          </a:solidFill>
          <a:ln/>
        </p:spPr>
      </p:sp>
      <p:sp>
        <p:nvSpPr>
          <p:cNvPr id="28" name="Text 26"/>
          <p:cNvSpPr/>
          <p:nvPr/>
        </p:nvSpPr>
        <p:spPr>
          <a:xfrm>
            <a:off x="8970264" y="1188720"/>
            <a:ext cx="2670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Marketplace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079992" y="1828800"/>
            <a:ext cx="245059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search, compare, negotiate, finance — all in one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061704" y="4023360"/>
            <a:ext cx="2487168" cy="457200"/>
          </a:xfrm>
          <a:prstGeom prst="rect">
            <a:avLst>
              <a:gd name="adj" fmla="val 6000"/>
            </a:avLst>
          </a:prstGeom>
          <a:solidFill>
            <a:srgbClr val="1A1A24"/>
          </a:solidFill>
          <a:ln/>
        </p:spPr>
      </p:sp>
      <p:sp>
        <p:nvSpPr>
          <p:cNvPr id="31" name="Text 29"/>
          <p:cNvSpPr/>
          <p:nvPr/>
        </p:nvSpPr>
        <p:spPr>
          <a:xfrm>
            <a:off x="9061704" y="402336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F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gen + referral fees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8080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565392"/>
            <a:ext cx="10360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AUTOVINCI  |  BOOTSTRAP FINANCIAL PLAN  |  CONFIDENTIAL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0908792" y="656539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48640" y="22860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ALLOCATION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8580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Self-funded. Every rupee has a job. 21% held as contingency — we plan for the worst.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2344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12344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0" y="1234440"/>
            <a:ext cx="6858000" cy="502920"/>
          </a:xfrm>
          <a:prstGeom prst="rect">
            <a:avLst>
              <a:gd name="adj" fmla="val 7273"/>
            </a:avLst>
          </a:prstGeom>
          <a:solidFill>
            <a:srgbClr val="0F0F15"/>
          </a:solidFill>
          <a:ln w="12700">
            <a:solidFill>
              <a:srgbClr val="1F1F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1234440"/>
            <a:ext cx="3086100" cy="5029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2880360" y="123444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₹79.2L  —  Team pool ₹7.5L/mo from Month 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190195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Contingency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190195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9F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0" y="1901952"/>
            <a:ext cx="6858000" cy="502920"/>
          </a:xfrm>
          <a:prstGeom prst="rect">
            <a:avLst>
              <a:gd name="adj" fmla="val 7273"/>
            </a:avLst>
          </a:prstGeom>
          <a:solidFill>
            <a:srgbClr val="0F0F15"/>
          </a:solidFill>
          <a:ln w="12700">
            <a:solidFill>
              <a:srgbClr val="1F1F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1901952"/>
            <a:ext cx="1440180" cy="502920"/>
          </a:xfrm>
          <a:prstGeom prst="rect">
            <a:avLst/>
          </a:prstGeom>
          <a:solidFill>
            <a:srgbClr val="FF9F0A"/>
          </a:solidFill>
          <a:ln/>
        </p:spPr>
      </p:sp>
      <p:sp>
        <p:nvSpPr>
          <p:cNvPr id="17" name="Text 15"/>
          <p:cNvSpPr/>
          <p:nvPr/>
        </p:nvSpPr>
        <p:spPr>
          <a:xfrm>
            <a:off x="2880360" y="1901952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₹37.1L  —  Untouched reserve for 4-month runway extension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2569464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20240" y="256946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C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0" y="2569464"/>
            <a:ext cx="6858000" cy="502920"/>
          </a:xfrm>
          <a:prstGeom prst="rect">
            <a:avLst>
              <a:gd name="adj" fmla="val 7273"/>
            </a:avLst>
          </a:prstGeom>
          <a:solidFill>
            <a:srgbClr val="0F0F15"/>
          </a:solidFill>
          <a:ln w="12700">
            <a:solidFill>
              <a:srgbClr val="1F1F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0" y="2569464"/>
            <a:ext cx="960120" cy="502920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22" name="Text 20"/>
          <p:cNvSpPr/>
          <p:nvPr/>
        </p:nvSpPr>
        <p:spPr>
          <a:xfrm>
            <a:off x="2880360" y="2569464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₹24.7L  —  Cloud, APIs, AI services, dev tools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3236976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20240" y="3236976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0" y="3236976"/>
            <a:ext cx="6858000" cy="502920"/>
          </a:xfrm>
          <a:prstGeom prst="rect">
            <a:avLst>
              <a:gd name="adj" fmla="val 7273"/>
            </a:avLst>
          </a:prstGeom>
          <a:solidFill>
            <a:srgbClr val="0F0F15"/>
          </a:solidFill>
          <a:ln w="12700">
            <a:solidFill>
              <a:srgbClr val="1F1F2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0" y="3236976"/>
            <a:ext cx="822960" cy="502920"/>
          </a:xfrm>
          <a:prstGeom prst="rect">
            <a:avLst/>
          </a:prstGeom>
          <a:solidFill>
            <a:srgbClr val="34C759"/>
          </a:solidFill>
          <a:ln/>
        </p:spPr>
      </p:sp>
      <p:sp>
        <p:nvSpPr>
          <p:cNvPr id="27" name="Text 25"/>
          <p:cNvSpPr/>
          <p:nvPr/>
        </p:nvSpPr>
        <p:spPr>
          <a:xfrm>
            <a:off x="2880360" y="3236976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₹21.2L  —  Field ops, dealer onboarding, events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390448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920240" y="390448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0" y="3904488"/>
            <a:ext cx="6858000" cy="502920"/>
          </a:xfrm>
          <a:prstGeom prst="rect">
            <a:avLst>
              <a:gd name="adj" fmla="val 7273"/>
            </a:avLst>
          </a:prstGeom>
          <a:solidFill>
            <a:srgbClr val="0F0F15"/>
          </a:solidFill>
          <a:ln w="12700">
            <a:solidFill>
              <a:srgbClr val="1F1F2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0" y="3904488"/>
            <a:ext cx="548640" cy="502920"/>
          </a:xfrm>
          <a:prstGeom prst="rect">
            <a:avLst/>
          </a:prstGeom>
          <a:solidFill>
            <a:srgbClr val="7A7573"/>
          </a:solidFill>
          <a:ln/>
        </p:spPr>
      </p:sp>
      <p:sp>
        <p:nvSpPr>
          <p:cNvPr id="32" name="Text 30"/>
          <p:cNvSpPr/>
          <p:nvPr/>
        </p:nvSpPr>
        <p:spPr>
          <a:xfrm>
            <a:off x="2880360" y="3904488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₹14.1L  —  Incorporation, DPDP compliance, CA fees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4892040"/>
            <a:ext cx="11091672" cy="457200"/>
          </a:xfrm>
          <a:prstGeom prst="rect">
            <a:avLst>
              <a:gd name="adj" fmla="val 8000"/>
            </a:avLst>
          </a:prstGeom>
          <a:solidFill>
            <a:srgbClr val="13131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8920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Co-founders draw last, not first.  |  ₹7.5L/mo team pool covers entire team from Month 3.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8080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565392"/>
            <a:ext cx="10360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AUTOVINCI  |  BOOTSTRAP FINANCIAL PLAN  |  CONFIDENTIAL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0908792" y="656539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48640" y="22860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8580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people. Single ₹7.5L/mo salary pool. No fat. Co-founders draw last.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5408676" cy="1645920"/>
          </a:xfrm>
          <a:prstGeom prst="rect">
            <a:avLst>
              <a:gd name="adj" fmla="val 2222"/>
            </a:avLst>
          </a:prstGeom>
          <a:solidFill>
            <a:srgbClr val="13131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188720"/>
            <a:ext cx="36576" cy="16459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298448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1645920"/>
            <a:ext cx="50429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Starts: Day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1965960"/>
            <a:ext cx="50429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first 50 dealers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product vision and fundraise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31636" y="1188720"/>
            <a:ext cx="5408676" cy="1645920"/>
          </a:xfrm>
          <a:prstGeom prst="rect">
            <a:avLst>
              <a:gd name="adj" fmla="val 2222"/>
            </a:avLst>
          </a:prstGeom>
          <a:solidFill>
            <a:srgbClr val="13131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1636" y="1188720"/>
            <a:ext cx="36576" cy="16459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5" name="Text 13"/>
          <p:cNvSpPr/>
          <p:nvPr/>
        </p:nvSpPr>
        <p:spPr>
          <a:xfrm>
            <a:off x="6414516" y="1298448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 &amp; CPO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14516" y="1645920"/>
            <a:ext cx="50429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Starts: Day 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14516" y="1965960"/>
            <a:ext cx="50429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buyer product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4.5+ App Store rating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063240"/>
            <a:ext cx="5408676" cy="1645920"/>
          </a:xfrm>
          <a:prstGeom prst="rect">
            <a:avLst>
              <a:gd name="adj" fmla="val 2222"/>
            </a:avLst>
          </a:prstGeom>
          <a:solidFill>
            <a:srgbClr val="13131A"/>
          </a:solidFill>
          <a:ln w="12700">
            <a:solidFill>
              <a:srgbClr val="5AC8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063240"/>
            <a:ext cx="36576" cy="1645920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172968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3520440"/>
            <a:ext cx="50429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Starts: Month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3840480"/>
            <a:ext cx="50429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C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Zero-downtime infra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C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Sub-2s page loads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31636" y="3063240"/>
            <a:ext cx="5408676" cy="1645920"/>
          </a:xfrm>
          <a:prstGeom prst="rect">
            <a:avLst>
              <a:gd name="adj" fmla="val 2222"/>
            </a:avLst>
          </a:prstGeom>
          <a:solidFill>
            <a:srgbClr val="13131A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31636" y="3063240"/>
            <a:ext cx="36576" cy="1645920"/>
          </a:xfrm>
          <a:prstGeom prst="rect">
            <a:avLst/>
          </a:prstGeom>
          <a:solidFill>
            <a:srgbClr val="34C759"/>
          </a:solidFill>
          <a:ln/>
        </p:spPr>
      </p:sp>
      <p:sp>
        <p:nvSpPr>
          <p:cNvPr id="25" name="Text 23"/>
          <p:cNvSpPr/>
          <p:nvPr/>
        </p:nvSpPr>
        <p:spPr>
          <a:xfrm>
            <a:off x="6414516" y="3172968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&amp; Sales Lead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14516" y="3520440"/>
            <a:ext cx="50429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Starts: Month 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14516" y="3840480"/>
            <a:ext cx="50429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dealer activations/month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NPS &gt; 50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5029200"/>
            <a:ext cx="11091672" cy="411480"/>
          </a:xfrm>
          <a:prstGeom prst="rect">
            <a:avLst>
              <a:gd name="adj" fmla="val 8889"/>
            </a:avLst>
          </a:prstGeom>
          <a:solidFill>
            <a:srgbClr val="0A0A1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502920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1–2: ₹2.1L/MO (FOUNDERS ONLY)   |   MONTHS 3–12: ₹7.5L/MO (FULL TEAM)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8080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565392"/>
            <a:ext cx="10360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AUTOVINCI  |  BOOTSTRAP FINANCIAL PLAN  |  CONFIDENTIAL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0908792" y="656539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48640" y="22860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MODEL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8580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revenue streams. DealerOS SaaS is the anchor. B2B data and VehiclePassport add margin.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3575304" cy="3291840"/>
          </a:xfrm>
          <a:prstGeom prst="rect">
            <a:avLst>
              <a:gd name="adj" fmla="val 1111"/>
            </a:avLst>
          </a:prstGeom>
          <a:solidFill>
            <a:srgbClr val="13131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188720"/>
            <a:ext cx="3575304" cy="411480"/>
          </a:xfrm>
          <a:prstGeom prst="rect">
            <a:avLst>
              <a:gd name="adj" fmla="val 8889"/>
            </a:avLst>
          </a:prstGeom>
          <a:solidFill>
            <a:srgbClr val="C9A84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18872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DealerOS SaaS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1737360"/>
            <a:ext cx="33924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₹2.07 Cr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" y="2377440"/>
            <a:ext cx="3392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 gross margin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697480"/>
            <a:ext cx="3392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→ ₹999 → ₹2,999/mo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3108960"/>
            <a:ext cx="33009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dealers free tier → convert 60% to paid by Month 6. ARPU ₹1,500/mo by Month 12.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306824" y="1188720"/>
            <a:ext cx="3575304" cy="3291840"/>
          </a:xfrm>
          <a:prstGeom prst="rect">
            <a:avLst>
              <a:gd name="adj" fmla="val 1111"/>
            </a:avLst>
          </a:prstGeom>
          <a:solidFill>
            <a:srgbClr val="13131A"/>
          </a:solidFill>
          <a:ln w="12700">
            <a:solidFill>
              <a:srgbClr val="5AC8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06824" y="1188720"/>
            <a:ext cx="3575304" cy="411480"/>
          </a:xfrm>
          <a:prstGeom prst="rect">
            <a:avLst>
              <a:gd name="adj" fmla="val 8889"/>
            </a:avLst>
          </a:prstGeom>
          <a:solidFill>
            <a:srgbClr val="5AC8FA"/>
          </a:solidFill>
          <a:ln/>
        </p:spPr>
      </p:sp>
      <p:sp>
        <p:nvSpPr>
          <p:cNvPr id="17" name="Text 15"/>
          <p:cNvSpPr/>
          <p:nvPr/>
        </p:nvSpPr>
        <p:spPr>
          <a:xfrm>
            <a:off x="4306824" y="118872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Data (DemandPulse)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98264" y="1737360"/>
            <a:ext cx="33924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AC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₹95.5L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398264" y="2377440"/>
            <a:ext cx="3392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 gross margin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98264" y="2697480"/>
            <a:ext cx="3392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₹30K/mo enterprise contracts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43984" y="3108960"/>
            <a:ext cx="33009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aggregated demand signals to 3 OEMs + 5 NBFC partners. First pilot by Month 4.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5008" y="1188720"/>
            <a:ext cx="3575304" cy="3291840"/>
          </a:xfrm>
          <a:prstGeom prst="rect">
            <a:avLst>
              <a:gd name="adj" fmla="val 1111"/>
            </a:avLst>
          </a:prstGeom>
          <a:solidFill>
            <a:srgbClr val="13131A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65008" y="1188720"/>
            <a:ext cx="3575304" cy="411480"/>
          </a:xfrm>
          <a:prstGeom prst="rect">
            <a:avLst>
              <a:gd name="adj" fmla="val 8889"/>
            </a:avLst>
          </a:prstGeom>
          <a:solidFill>
            <a:srgbClr val="34C759"/>
          </a:solidFill>
          <a:ln/>
        </p:spPr>
      </p:sp>
      <p:sp>
        <p:nvSpPr>
          <p:cNvPr id="24" name="Text 22"/>
          <p:cNvSpPr/>
          <p:nvPr/>
        </p:nvSpPr>
        <p:spPr>
          <a:xfrm>
            <a:off x="8065008" y="118872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VehiclePassport Reports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156448" y="1737360"/>
            <a:ext cx="33924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₹41.5L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8156448" y="2377440"/>
            <a:ext cx="3392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 gross margin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156448" y="2697480"/>
            <a:ext cx="3392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₹299–₹999 per report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02168" y="3108960"/>
            <a:ext cx="33009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Buyers pay for AI condition + history reports. Scale with marketplace traffic.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4754880"/>
            <a:ext cx="11091672" cy="502920"/>
          </a:xfrm>
          <a:prstGeom prst="rect">
            <a:avLst>
              <a:gd name="adj" fmla="val 7273"/>
            </a:avLst>
          </a:prstGeom>
          <a:solidFill>
            <a:srgbClr val="14120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75488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TOTAL:  ₹3.43 CRORE  |  BLENDED GROSS MARGIN: 75%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8080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565392"/>
            <a:ext cx="10360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AUTOVINCI  |  BOOTSTRAP FINANCIAL PLAN  |  CONFIDENTIAL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0908792" y="656539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48640" y="22860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12-MONTH P&amp;L PROJECTION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8580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figures in ₹ Lakhs. Cash-flow positive in Month 8.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11091672" cy="274320"/>
          </a:xfrm>
          <a:prstGeom prst="rect">
            <a:avLst/>
          </a:prstGeom>
          <a:solidFill>
            <a:srgbClr val="16161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0515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645920" y="10515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474720" y="1051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120640" y="1051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766560" y="10515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595360" y="1051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Cum. Cash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48640" y="1325880"/>
            <a:ext cx="11091672" cy="274320"/>
          </a:xfrm>
          <a:prstGeom prst="rect">
            <a:avLst/>
          </a:prstGeom>
          <a:solidFill>
            <a:srgbClr val="13131A"/>
          </a:solidFill>
          <a:ln w="12700">
            <a:solidFill>
              <a:srgbClr val="1F1F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325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645920" y="13258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474720" y="1325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120640" y="1325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766560" y="13258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(5.0)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8595360" y="1325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171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48640" y="1600200"/>
            <a:ext cx="11091672" cy="274320"/>
          </a:xfrm>
          <a:prstGeom prst="rect">
            <a:avLst/>
          </a:prstGeom>
          <a:solidFill>
            <a:srgbClr val="0F0F17"/>
          </a:solidFill>
          <a:ln w="12700">
            <a:solidFill>
              <a:srgbClr val="1F1F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16002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645920" y="1600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474720" y="16002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120640" y="16002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766560" y="1600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(5.5)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595360" y="1600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166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48640" y="1874520"/>
            <a:ext cx="11091672" cy="274320"/>
          </a:xfrm>
          <a:prstGeom prst="rect">
            <a:avLst/>
          </a:prstGeom>
          <a:solidFill>
            <a:srgbClr val="13131A"/>
          </a:solidFill>
          <a:ln w="12700">
            <a:solidFill>
              <a:srgbClr val="1F1F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1874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645920" y="1874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474720" y="18745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120640" y="18745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766560" y="1874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(8.0)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8595360" y="1874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158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48640" y="2148840"/>
            <a:ext cx="11091672" cy="274320"/>
          </a:xfrm>
          <a:prstGeom prst="rect">
            <a:avLst/>
          </a:prstGeom>
          <a:solidFill>
            <a:srgbClr val="0F0F17"/>
          </a:solidFill>
          <a:ln w="12700">
            <a:solidFill>
              <a:srgbClr val="1F1F2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21488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645920" y="21488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474720" y="21488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120640" y="21488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766560" y="21488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(6.0)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8595360" y="2148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48640" y="2423160"/>
            <a:ext cx="11091672" cy="274320"/>
          </a:xfrm>
          <a:prstGeom prst="rect">
            <a:avLst/>
          </a:prstGeom>
          <a:solidFill>
            <a:srgbClr val="13131A"/>
          </a:solidFill>
          <a:ln w="12700">
            <a:solidFill>
              <a:srgbClr val="1F1F2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24231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645920" y="24231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474720" y="24231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120640" y="24231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766560" y="24231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(4.0)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8595360" y="2423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48640" y="2697480"/>
            <a:ext cx="11091672" cy="274320"/>
          </a:xfrm>
          <a:prstGeom prst="rect">
            <a:avLst/>
          </a:prstGeom>
          <a:solidFill>
            <a:srgbClr val="0F0F17"/>
          </a:solidFill>
          <a:ln w="12700">
            <a:solidFill>
              <a:srgbClr val="1F1F2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26974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1645920" y="26974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3474720" y="26974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5120640" y="26974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766560" y="26974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8595360" y="2697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548640" y="2971800"/>
            <a:ext cx="11091672" cy="274320"/>
          </a:xfrm>
          <a:prstGeom prst="rect">
            <a:avLst/>
          </a:prstGeom>
          <a:solidFill>
            <a:srgbClr val="13131A"/>
          </a:solidFill>
          <a:ln w="12700">
            <a:solidFill>
              <a:srgbClr val="1F1F2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8640" y="2971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1645920" y="2971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18.0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3474720" y="29718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5120640" y="29718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766560" y="2971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8595360" y="2971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548640" y="3246120"/>
            <a:ext cx="11091672" cy="274320"/>
          </a:xfrm>
          <a:prstGeom prst="rect">
            <a:avLst/>
          </a:prstGeom>
          <a:solidFill>
            <a:srgbClr val="0D1F0D"/>
          </a:solidFill>
          <a:ln w="12700">
            <a:solidFill>
              <a:srgbClr val="1F1F2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48640" y="3246120"/>
            <a:ext cx="36576" cy="274320"/>
          </a:xfrm>
          <a:prstGeom prst="rect">
            <a:avLst/>
          </a:prstGeom>
          <a:solidFill>
            <a:srgbClr val="34C759"/>
          </a:solidFill>
          <a:ln/>
        </p:spPr>
      </p:sp>
      <p:sp>
        <p:nvSpPr>
          <p:cNvPr id="66" name="Text 64"/>
          <p:cNvSpPr/>
          <p:nvPr/>
        </p:nvSpPr>
        <p:spPr>
          <a:xfrm>
            <a:off x="548640" y="32461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 CF+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1645920" y="3246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26.0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3474720" y="32461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5120640" y="32461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6766560" y="3246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13.5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8595360" y="3246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168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548640" y="3520440"/>
            <a:ext cx="11091672" cy="274320"/>
          </a:xfrm>
          <a:prstGeom prst="rect">
            <a:avLst/>
          </a:prstGeom>
          <a:solidFill>
            <a:srgbClr val="13131A"/>
          </a:solidFill>
          <a:ln w="12700">
            <a:solidFill>
              <a:srgbClr val="1F1F2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48640" y="35204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1645920" y="35204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38.0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3474720" y="3520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5120640" y="3520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6766560" y="35204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25.0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8595360" y="3520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548640" y="3794760"/>
            <a:ext cx="11091672" cy="274320"/>
          </a:xfrm>
          <a:prstGeom prst="rect">
            <a:avLst/>
          </a:prstGeom>
          <a:solidFill>
            <a:srgbClr val="0F0F17"/>
          </a:solidFill>
          <a:ln w="12700">
            <a:solidFill>
              <a:srgbClr val="1F1F2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48640" y="37947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1645920" y="3794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52.0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3474720" y="37947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5120640" y="37947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6766560" y="3794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38.5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8595360" y="3794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231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548640" y="4069080"/>
            <a:ext cx="11091672" cy="274320"/>
          </a:xfrm>
          <a:prstGeom prst="rect">
            <a:avLst/>
          </a:prstGeom>
          <a:solidFill>
            <a:srgbClr val="13131A"/>
          </a:solidFill>
          <a:ln w="12700">
            <a:solidFill>
              <a:srgbClr val="1F1F2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48640" y="40690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1645920" y="4069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72.0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3474720" y="4069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5120640" y="4069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6766560" y="4069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58.5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8595360" y="40690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290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548640" y="4343400"/>
            <a:ext cx="11091672" cy="274320"/>
          </a:xfrm>
          <a:prstGeom prst="rect">
            <a:avLst/>
          </a:prstGeom>
          <a:solidFill>
            <a:srgbClr val="0F0F17"/>
          </a:solidFill>
          <a:ln w="12700">
            <a:solidFill>
              <a:srgbClr val="1F1F28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48640" y="43434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M12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1645920" y="43434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97.5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3474720" y="4343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5120640" y="4343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6766560" y="43434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83.0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8595360" y="4343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373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548640" y="4617720"/>
            <a:ext cx="11091672" cy="274320"/>
          </a:xfrm>
          <a:prstGeom prst="rect">
            <a:avLst/>
          </a:prstGeom>
          <a:solidFill>
            <a:srgbClr val="16161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48640" y="46177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1645920" y="46177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329.5</a:t>
            </a:r>
            <a:endParaRPr lang="en-US" sz="750" dirty="0"/>
          </a:p>
        </p:txBody>
      </p:sp>
      <p:sp>
        <p:nvSpPr>
          <p:cNvPr id="103" name="Text 101"/>
          <p:cNvSpPr/>
          <p:nvPr/>
        </p:nvSpPr>
        <p:spPr>
          <a:xfrm>
            <a:off x="3474720" y="46177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85.2</a:t>
            </a:r>
            <a:endParaRPr lang="en-US" sz="750" dirty="0"/>
          </a:p>
        </p:txBody>
      </p:sp>
      <p:sp>
        <p:nvSpPr>
          <p:cNvPr id="104" name="Text 102"/>
          <p:cNvSpPr/>
          <p:nvPr/>
        </p:nvSpPr>
        <p:spPr>
          <a:xfrm>
            <a:off x="5120640" y="46177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53.8</a:t>
            </a:r>
            <a:endParaRPr lang="en-US" sz="750" dirty="0"/>
          </a:p>
        </p:txBody>
      </p:sp>
      <p:sp>
        <p:nvSpPr>
          <p:cNvPr id="105" name="Text 103"/>
          <p:cNvSpPr/>
          <p:nvPr/>
        </p:nvSpPr>
        <p:spPr>
          <a:xfrm>
            <a:off x="6766560" y="46177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201.5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8595360" y="4617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373</a:t>
            </a:r>
            <a:endParaRPr lang="en-US" sz="750" dirty="0"/>
          </a:p>
        </p:txBody>
      </p:sp>
      <p:sp>
        <p:nvSpPr>
          <p:cNvPr id="107" name="Text 105"/>
          <p:cNvSpPr/>
          <p:nvPr/>
        </p:nvSpPr>
        <p:spPr>
          <a:xfrm>
            <a:off x="548640" y="4983480"/>
            <a:ext cx="11091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capital fully self-funded. Cumulative cash never touches zero — ₹37L contingency reserve held separately.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8080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565392"/>
            <a:ext cx="10360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AUTOVINCI  |  BOOTSTRAP FINANCIAL PLAN  |  CONFIDENTIAL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0908792" y="656539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48640" y="22860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8580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 that define whether this business works. They do.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3544824" cy="1463040"/>
          </a:xfrm>
          <a:prstGeom prst="rect">
            <a:avLst>
              <a:gd name="adj" fmla="val 2500"/>
            </a:avLst>
          </a:prstGeom>
          <a:solidFill>
            <a:srgbClr val="13131A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188720"/>
            <a:ext cx="3544824" cy="32004"/>
          </a:xfrm>
          <a:prstGeom prst="rect">
            <a:avLst/>
          </a:prstGeom>
          <a:solidFill>
            <a:srgbClr val="34C759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280160"/>
            <a:ext cx="3361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CAC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1554480"/>
            <a:ext cx="3361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₹400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40080" y="2240280"/>
            <a:ext cx="3361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₹2,400–4,000 at CarDekho/OLX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22064" y="1188720"/>
            <a:ext cx="3544824" cy="1463040"/>
          </a:xfrm>
          <a:prstGeom prst="rect">
            <a:avLst>
              <a:gd name="adj" fmla="val 2500"/>
            </a:avLst>
          </a:prstGeom>
          <a:solidFill>
            <a:srgbClr val="13131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22064" y="1188720"/>
            <a:ext cx="3544824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5" name="Text 13"/>
          <p:cNvSpPr/>
          <p:nvPr/>
        </p:nvSpPr>
        <p:spPr>
          <a:xfrm>
            <a:off x="4413504" y="1280160"/>
            <a:ext cx="3361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 : CAC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13504" y="1554480"/>
            <a:ext cx="3361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30x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413504" y="2240280"/>
            <a:ext cx="3361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payback in 11 days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095488" y="1188720"/>
            <a:ext cx="3544824" cy="1463040"/>
          </a:xfrm>
          <a:prstGeom prst="rect">
            <a:avLst>
              <a:gd name="adj" fmla="val 2500"/>
            </a:avLst>
          </a:prstGeom>
          <a:solidFill>
            <a:srgbClr val="13131A"/>
          </a:solidFill>
          <a:ln w="12700">
            <a:solidFill>
              <a:srgbClr val="5AC8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5488" y="1188720"/>
            <a:ext cx="3544824" cy="32004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20" name="Text 18"/>
          <p:cNvSpPr/>
          <p:nvPr/>
        </p:nvSpPr>
        <p:spPr>
          <a:xfrm>
            <a:off x="8186928" y="1280160"/>
            <a:ext cx="3361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Gross Margin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186928" y="1554480"/>
            <a:ext cx="3361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AC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8186928" y="2240280"/>
            <a:ext cx="3361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DealerOS subscriptions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2880360"/>
            <a:ext cx="3544824" cy="1463040"/>
          </a:xfrm>
          <a:prstGeom prst="rect">
            <a:avLst>
              <a:gd name="adj" fmla="val 2500"/>
            </a:avLst>
          </a:prstGeom>
          <a:solidFill>
            <a:srgbClr val="13131A"/>
          </a:solidFill>
          <a:ln w="12700">
            <a:solidFill>
              <a:srgbClr val="FF9F0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2880360"/>
            <a:ext cx="3544824" cy="32004"/>
          </a:xfrm>
          <a:prstGeom prst="rect">
            <a:avLst/>
          </a:prstGeom>
          <a:solidFill>
            <a:srgbClr val="FF9F0A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2971800"/>
            <a:ext cx="3361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Gross Margin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3246120"/>
            <a:ext cx="3361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9F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640080" y="3931920"/>
            <a:ext cx="3361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DemandPulse data contracts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322064" y="2880360"/>
            <a:ext cx="3544824" cy="1463040"/>
          </a:xfrm>
          <a:prstGeom prst="rect">
            <a:avLst>
              <a:gd name="adj" fmla="val 2500"/>
            </a:avLst>
          </a:prstGeom>
          <a:solidFill>
            <a:srgbClr val="13131A"/>
          </a:solidFill>
          <a:ln w="12700">
            <a:solidFill>
              <a:srgbClr val="F0ED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22064" y="2880360"/>
            <a:ext cx="3544824" cy="32004"/>
          </a:xfrm>
          <a:prstGeom prst="rect">
            <a:avLst/>
          </a:prstGeom>
          <a:solidFill>
            <a:srgbClr val="F0EDE5"/>
          </a:solidFill>
          <a:ln/>
        </p:spPr>
      </p:sp>
      <p:sp>
        <p:nvSpPr>
          <p:cNvPr id="30" name="Text 28"/>
          <p:cNvSpPr/>
          <p:nvPr/>
        </p:nvSpPr>
        <p:spPr>
          <a:xfrm>
            <a:off x="4413504" y="2971800"/>
            <a:ext cx="3361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Blended ARPU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413504" y="3246120"/>
            <a:ext cx="3361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₹1,500/mo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4413504" y="3931920"/>
            <a:ext cx="3361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all dealer tiers by M12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095488" y="2880360"/>
            <a:ext cx="3544824" cy="1463040"/>
          </a:xfrm>
          <a:prstGeom prst="rect">
            <a:avLst>
              <a:gd name="adj" fmla="val 2500"/>
            </a:avLst>
          </a:prstGeom>
          <a:solidFill>
            <a:srgbClr val="13131A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95488" y="2880360"/>
            <a:ext cx="3544824" cy="32004"/>
          </a:xfrm>
          <a:prstGeom prst="rect">
            <a:avLst/>
          </a:prstGeom>
          <a:solidFill>
            <a:srgbClr val="34C759"/>
          </a:solidFill>
          <a:ln/>
        </p:spPr>
      </p:sp>
      <p:sp>
        <p:nvSpPr>
          <p:cNvPr id="35" name="Text 33"/>
          <p:cNvSpPr/>
          <p:nvPr/>
        </p:nvSpPr>
        <p:spPr>
          <a:xfrm>
            <a:off x="8186928" y="2971800"/>
            <a:ext cx="3361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Churn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186928" y="3246120"/>
            <a:ext cx="3361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&lt;3%</a:t>
            </a:r>
            <a:endParaRPr lang="en-US" sz="3400" dirty="0"/>
          </a:p>
        </p:txBody>
      </p:sp>
      <p:sp>
        <p:nvSpPr>
          <p:cNvPr id="37" name="Text 35"/>
          <p:cNvSpPr/>
          <p:nvPr/>
        </p:nvSpPr>
        <p:spPr>
          <a:xfrm>
            <a:off x="8186928" y="3931920"/>
            <a:ext cx="3361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based on dealer stickiness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8640" y="4846320"/>
            <a:ext cx="11091672" cy="457200"/>
          </a:xfrm>
          <a:prstGeom prst="rect">
            <a:avLst>
              <a:gd name="adj" fmla="val 8000"/>
            </a:avLst>
          </a:prstGeom>
          <a:solidFill>
            <a:srgbClr val="0F0F15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8463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WORKS:  CAC is 6x lower than competition  |  LTV is 5x higher  |  Gross margins exceed 70%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8080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565392"/>
            <a:ext cx="10360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AUTOVINCI  |  BOOTSTRAP FINANCIAL PLAN  |  CONFIDENTIAL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0908792" y="656539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48640" y="22860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EXPENSES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8580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breakdown. Total annual OpEx: ₹98.8L. Hard rule: never exceed ₹15L/month in Year 1.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078992"/>
            <a:ext cx="11091672" cy="292608"/>
          </a:xfrm>
          <a:prstGeom prst="rect">
            <a:avLst/>
          </a:prstGeom>
          <a:solidFill>
            <a:srgbClr val="16161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07899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749040" y="107899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M1–M2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394960" y="107899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M3–M6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949440" y="107899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M7–M9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503920" y="107899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M10–M12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0149840" y="10789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48640" y="1371600"/>
            <a:ext cx="11091672" cy="292608"/>
          </a:xfrm>
          <a:prstGeom prst="rect">
            <a:avLst/>
          </a:prstGeom>
          <a:solidFill>
            <a:srgbClr val="13131A"/>
          </a:solidFill>
          <a:ln w="12700">
            <a:solidFill>
              <a:srgbClr val="1F1F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37160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salaries (all-in)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749040" y="137160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394960" y="13716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949440" y="13716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503920" y="137160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149840" y="137160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79.2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48640" y="1664208"/>
            <a:ext cx="11091672" cy="292608"/>
          </a:xfrm>
          <a:prstGeom prst="rect">
            <a:avLst/>
          </a:prstGeom>
          <a:solidFill>
            <a:srgbClr val="0F0F17"/>
          </a:solidFill>
          <a:ln w="12700">
            <a:solidFill>
              <a:srgbClr val="1F1F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166420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Freelance / contractors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749040" y="166420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94960" y="166420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949440" y="166420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503920" y="166420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149840" y="166420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8640" y="1956816"/>
            <a:ext cx="11091672" cy="292608"/>
          </a:xfrm>
          <a:prstGeom prst="rect">
            <a:avLst/>
          </a:prstGeom>
          <a:solidFill>
            <a:srgbClr val="13131A"/>
          </a:solidFill>
          <a:ln w="12700">
            <a:solidFill>
              <a:srgbClr val="1F1F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195681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infrastructure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749040" y="195681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394960" y="195681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949440" y="195681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0.25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503920" y="195681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149840" y="19568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48640" y="2249424"/>
            <a:ext cx="11091672" cy="292608"/>
          </a:xfrm>
          <a:prstGeom prst="rect">
            <a:avLst/>
          </a:prstGeom>
          <a:solidFill>
            <a:srgbClr val="0F0F17"/>
          </a:solidFill>
          <a:ln w="12700">
            <a:solidFill>
              <a:srgbClr val="1F1F2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224942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(AI, maps, SMS)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749040" y="2249424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394960" y="224942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0.15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949440" y="224942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503920" y="2249424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0149840" y="224942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48640" y="2542032"/>
            <a:ext cx="11091672" cy="292608"/>
          </a:xfrm>
          <a:prstGeom prst="rect">
            <a:avLst/>
          </a:prstGeom>
          <a:solidFill>
            <a:srgbClr val="13131A"/>
          </a:solidFill>
          <a:ln w="12700">
            <a:solidFill>
              <a:srgbClr val="1F1F2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254203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&amp; field ops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749040" y="254203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0.15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394960" y="254203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949440" y="254203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503920" y="254203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0149840" y="254203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48640" y="2834640"/>
            <a:ext cx="11091672" cy="292608"/>
          </a:xfrm>
          <a:prstGeom prst="rect">
            <a:avLst/>
          </a:prstGeom>
          <a:solidFill>
            <a:srgbClr val="0F0F17"/>
          </a:solidFill>
          <a:ln w="12700">
            <a:solidFill>
              <a:srgbClr val="1F1F2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283464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/ CRM tools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749040" y="283464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394960" y="28346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949440" y="28346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0.12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503920" y="283464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0.15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10149840" y="28346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48640" y="3127248"/>
            <a:ext cx="11091672" cy="292608"/>
          </a:xfrm>
          <a:prstGeom prst="rect">
            <a:avLst/>
          </a:prstGeom>
          <a:solidFill>
            <a:srgbClr val="13131A"/>
          </a:solidFill>
          <a:ln w="12700">
            <a:solidFill>
              <a:srgbClr val="1F1F2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8640" y="312724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CA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749040" y="312724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0.25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394960" y="312724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0.25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949440" y="312724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8503920" y="312724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0.15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10149840" y="312724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548640" y="3419856"/>
            <a:ext cx="11091672" cy="292608"/>
          </a:xfrm>
          <a:prstGeom prst="rect">
            <a:avLst/>
          </a:prstGeom>
          <a:solidFill>
            <a:srgbClr val="0F0F17"/>
          </a:solidFill>
          <a:ln w="12700">
            <a:solidFill>
              <a:srgbClr val="1F1F2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8640" y="341985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&amp; misc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3749040" y="341985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394960" y="341985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949440" y="341985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8503920" y="341985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10149840" y="341985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548640" y="3712464"/>
            <a:ext cx="11091672" cy="292608"/>
          </a:xfrm>
          <a:prstGeom prst="rect">
            <a:avLst/>
          </a:prstGeom>
          <a:solidFill>
            <a:srgbClr val="16161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48640" y="371246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(per month)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3749040" y="3712464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394960" y="371246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6949440" y="371246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9.3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8503920" y="3712464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10149840" y="37124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98.8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548640" y="4754880"/>
            <a:ext cx="11091672" cy="457200"/>
          </a:xfrm>
          <a:prstGeom prst="rect">
            <a:avLst>
              <a:gd name="adj" fmla="val 8000"/>
            </a:avLst>
          </a:prstGeom>
          <a:solidFill>
            <a:srgbClr val="1A0A0A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48640" y="47548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RULE:  Monthly OpEx never exceeds ₹15L in Year 1  |  Every expense has a KPI attached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8080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565392"/>
            <a:ext cx="10360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AUTOVINCI  |  BOOTSTRAP FINANCIAL PLAN  |  CONFIDENTIAL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0908792" y="656539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48640" y="22860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3-YEAR TRAJECTORY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8580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1: survive and prove.  Year 2: scale with seed capital.  Year 3: dominate and prepare for Series A.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3575304" cy="3474720"/>
          </a:xfrm>
          <a:prstGeom prst="rect">
            <a:avLst>
              <a:gd name="adj" fmla="val 1053"/>
            </a:avLst>
          </a:prstGeom>
          <a:solidFill>
            <a:srgbClr val="13131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188720"/>
            <a:ext cx="3575304" cy="502920"/>
          </a:xfrm>
          <a:prstGeom prst="rect">
            <a:avLst>
              <a:gd name="adj" fmla="val 7273"/>
            </a:avLst>
          </a:prstGeom>
          <a:solidFill>
            <a:srgbClr val="C9A84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188720"/>
            <a:ext cx="3575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 —  SURVIVE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1828800"/>
            <a:ext cx="33009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85800" y="2011680"/>
            <a:ext cx="33009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₹3.4 Cr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2377440"/>
            <a:ext cx="33009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Paying Dealers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" y="2560320"/>
            <a:ext cx="33009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2926080"/>
            <a:ext cx="33009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Contracts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" y="3108960"/>
            <a:ext cx="33009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3474720"/>
            <a:ext cx="33009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5800" y="3657600"/>
            <a:ext cx="33009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CF+ Month 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" y="4023360"/>
            <a:ext cx="33009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Size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85800" y="4206240"/>
            <a:ext cx="33009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306824" y="1188720"/>
            <a:ext cx="3575304" cy="3474720"/>
          </a:xfrm>
          <a:prstGeom prst="rect">
            <a:avLst>
              <a:gd name="adj" fmla="val 1053"/>
            </a:avLst>
          </a:prstGeom>
          <a:solidFill>
            <a:srgbClr val="13131A"/>
          </a:solidFill>
          <a:ln w="12700">
            <a:solidFill>
              <a:srgbClr val="5AC8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06824" y="1188720"/>
            <a:ext cx="3575304" cy="502920"/>
          </a:xfrm>
          <a:prstGeom prst="rect">
            <a:avLst>
              <a:gd name="adj" fmla="val 7273"/>
            </a:avLst>
          </a:prstGeom>
          <a:solidFill>
            <a:srgbClr val="5AC8FA"/>
          </a:solidFill>
          <a:ln/>
        </p:spPr>
      </p:sp>
      <p:sp>
        <p:nvSpPr>
          <p:cNvPr id="23" name="Text 21"/>
          <p:cNvSpPr/>
          <p:nvPr/>
        </p:nvSpPr>
        <p:spPr>
          <a:xfrm>
            <a:off x="4306824" y="1188720"/>
            <a:ext cx="3575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  —  SCALE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43984" y="1828800"/>
            <a:ext cx="33009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443984" y="2011680"/>
            <a:ext cx="33009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₹28 Cr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443984" y="2377440"/>
            <a:ext cx="33009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Paying Dealers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443984" y="2560320"/>
            <a:ext cx="33009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3,600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43984" y="2926080"/>
            <a:ext cx="33009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Contracts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443984" y="3108960"/>
            <a:ext cx="33009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443984" y="3474720"/>
            <a:ext cx="33009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443984" y="3657600"/>
            <a:ext cx="33009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₹2.1 Cr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43984" y="4023360"/>
            <a:ext cx="33009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Size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443984" y="4206240"/>
            <a:ext cx="33009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065008" y="1188720"/>
            <a:ext cx="3575304" cy="3474720"/>
          </a:xfrm>
          <a:prstGeom prst="rect">
            <a:avLst>
              <a:gd name="adj" fmla="val 1053"/>
            </a:avLst>
          </a:prstGeom>
          <a:solidFill>
            <a:srgbClr val="13131A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65008" y="1188720"/>
            <a:ext cx="3575304" cy="502920"/>
          </a:xfrm>
          <a:prstGeom prst="rect">
            <a:avLst>
              <a:gd name="adj" fmla="val 7273"/>
            </a:avLst>
          </a:prstGeom>
          <a:solidFill>
            <a:srgbClr val="34C759"/>
          </a:solidFill>
          <a:ln/>
        </p:spPr>
      </p:sp>
      <p:sp>
        <p:nvSpPr>
          <p:cNvPr id="36" name="Text 34"/>
          <p:cNvSpPr/>
          <p:nvPr/>
        </p:nvSpPr>
        <p:spPr>
          <a:xfrm>
            <a:off x="8065008" y="1188720"/>
            <a:ext cx="3575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  —  DOMINATE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202168" y="1828800"/>
            <a:ext cx="33009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202168" y="2011680"/>
            <a:ext cx="33009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₹95 Cr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202168" y="2377440"/>
            <a:ext cx="33009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Paying Dealers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202168" y="2560320"/>
            <a:ext cx="33009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13,750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202168" y="2926080"/>
            <a:ext cx="33009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Contracts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202168" y="3108960"/>
            <a:ext cx="33009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202168" y="3474720"/>
            <a:ext cx="33009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202168" y="3657600"/>
            <a:ext cx="33009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₹28.5 Cr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202168" y="4023360"/>
            <a:ext cx="33009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Size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202168" y="4206240"/>
            <a:ext cx="33009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133088" y="4736592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SEED: ₹15–20 Cr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7891272" y="4736592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AC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A: ₹60–80 Cr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8080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565392"/>
            <a:ext cx="10360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AUTOVINCI  |  BOOTSTRAP FINANCIAL PLAN  |  CONFIDENTIAL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0908792" y="656539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48640" y="22860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EXECUTION PLAN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8580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in the first 90 days. Every task has an owner and a deadline.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097280"/>
            <a:ext cx="3575304" cy="4114800"/>
          </a:xfrm>
          <a:prstGeom prst="rect">
            <a:avLst>
              <a:gd name="adj" fmla="val 1023"/>
            </a:avLst>
          </a:prstGeom>
          <a:solidFill>
            <a:srgbClr val="13131A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97280"/>
            <a:ext cx="3575304" cy="411480"/>
          </a:xfrm>
          <a:prstGeom prst="rect">
            <a:avLst>
              <a:gd name="adj" fmla="val 8889"/>
            </a:avLst>
          </a:prstGeom>
          <a:solidFill>
            <a:srgbClr val="34C759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09728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1–30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1700784"/>
            <a:ext cx="54864" cy="54864"/>
          </a:xfrm>
          <a:prstGeom prst="rect">
            <a:avLst>
              <a:gd name="adj" fmla="val 16667"/>
            </a:avLst>
          </a:prstGeom>
          <a:solidFill>
            <a:srgbClr val="34C759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645920"/>
            <a:ext cx="31638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Incorporate Pvt Ltd + open current account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5800" y="2386584"/>
            <a:ext cx="54864" cy="54864"/>
          </a:xfrm>
          <a:prstGeom prst="rect">
            <a:avLst>
              <a:gd name="adj" fmla="val 16667"/>
            </a:avLst>
          </a:prstGeom>
          <a:solidFill>
            <a:srgbClr val="34C759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331720"/>
            <a:ext cx="31638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MVP: DealerOS + VehiclePassport live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" y="3072384"/>
            <a:ext cx="54864" cy="54864"/>
          </a:xfrm>
          <a:prstGeom prst="rect">
            <a:avLst>
              <a:gd name="adj" fmla="val 16667"/>
            </a:avLst>
          </a:prstGeom>
          <a:solidFill>
            <a:srgbClr val="34C759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017520"/>
            <a:ext cx="31638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 first 10 dealers (Pune, Mumbai, Blr)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" y="3758184"/>
            <a:ext cx="54864" cy="54864"/>
          </a:xfrm>
          <a:prstGeom prst="rect">
            <a:avLst>
              <a:gd name="adj" fmla="val 16667"/>
            </a:avLst>
          </a:prstGeom>
          <a:solidFill>
            <a:srgbClr val="34C759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703320"/>
            <a:ext cx="31638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CTO search — 30-day hire deadline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" y="4443984"/>
            <a:ext cx="54864" cy="54864"/>
          </a:xfrm>
          <a:prstGeom prst="rect">
            <a:avLst>
              <a:gd name="adj" fmla="val 16667"/>
            </a:avLst>
          </a:prstGeom>
          <a:solidFill>
            <a:srgbClr val="34C759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389120"/>
            <a:ext cx="31638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Legal: DPDP compliance, SaaS contracts drafted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06824" y="1097280"/>
            <a:ext cx="3575304" cy="4114800"/>
          </a:xfrm>
          <a:prstGeom prst="rect">
            <a:avLst>
              <a:gd name="adj" fmla="val 1023"/>
            </a:avLst>
          </a:prstGeom>
          <a:solidFill>
            <a:srgbClr val="13131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06824" y="1097280"/>
            <a:ext cx="3575304" cy="411480"/>
          </a:xfrm>
          <a:prstGeom prst="rect">
            <a:avLst>
              <a:gd name="adj" fmla="val 8889"/>
            </a:avLst>
          </a:prstGeom>
          <a:solidFill>
            <a:srgbClr val="C9A84C"/>
          </a:solidFill>
          <a:ln/>
        </p:spPr>
      </p:sp>
      <p:sp>
        <p:nvSpPr>
          <p:cNvPr id="23" name="Text 21"/>
          <p:cNvSpPr/>
          <p:nvPr/>
        </p:nvSpPr>
        <p:spPr>
          <a:xfrm>
            <a:off x="4306824" y="109728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31–60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43984" y="1700784"/>
            <a:ext cx="54864" cy="54864"/>
          </a:xfrm>
          <a:prstGeom prst="rect">
            <a:avLst>
              <a:gd name="adj" fmla="val 16667"/>
            </a:avLst>
          </a:prstGeom>
          <a:solidFill>
            <a:srgbClr val="C9A84C"/>
          </a:solidFill>
          <a:ln/>
        </p:spPr>
      </p:sp>
      <p:sp>
        <p:nvSpPr>
          <p:cNvPr id="25" name="Text 23"/>
          <p:cNvSpPr/>
          <p:nvPr/>
        </p:nvSpPr>
        <p:spPr>
          <a:xfrm>
            <a:off x="4581144" y="1645920"/>
            <a:ext cx="31638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free dealers to ₹999 Growth tier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443984" y="2386584"/>
            <a:ext cx="54864" cy="54864"/>
          </a:xfrm>
          <a:prstGeom prst="rect">
            <a:avLst>
              <a:gd name="adj" fmla="val 16667"/>
            </a:avLst>
          </a:prstGeom>
          <a:solidFill>
            <a:srgbClr val="C9A84C"/>
          </a:solidFill>
          <a:ln/>
        </p:spPr>
      </p:sp>
      <p:sp>
        <p:nvSpPr>
          <p:cNvPr id="27" name="Text 25"/>
          <p:cNvSpPr/>
          <p:nvPr/>
        </p:nvSpPr>
        <p:spPr>
          <a:xfrm>
            <a:off x="4581144" y="2331720"/>
            <a:ext cx="31638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first B2B DemandPulse pilot contract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443984" y="3072384"/>
            <a:ext cx="54864" cy="54864"/>
          </a:xfrm>
          <a:prstGeom prst="rect">
            <a:avLst>
              <a:gd name="adj" fmla="val 16667"/>
            </a:avLst>
          </a:prstGeom>
          <a:solidFill>
            <a:srgbClr val="C9A84C"/>
          </a:solidFill>
          <a:ln/>
        </p:spPr>
      </p:sp>
      <p:sp>
        <p:nvSpPr>
          <p:cNvPr id="29" name="Text 27"/>
          <p:cNvSpPr/>
          <p:nvPr/>
        </p:nvSpPr>
        <p:spPr>
          <a:xfrm>
            <a:off x="4581144" y="3017520"/>
            <a:ext cx="31638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 Ops + Sales lead into ₹7.5L pool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443984" y="3758184"/>
            <a:ext cx="54864" cy="54864"/>
          </a:xfrm>
          <a:prstGeom prst="rect">
            <a:avLst>
              <a:gd name="adj" fmla="val 16667"/>
            </a:avLst>
          </a:prstGeom>
          <a:solidFill>
            <a:srgbClr val="C9A84C"/>
          </a:solidFill>
          <a:ln/>
        </p:spPr>
      </p:sp>
      <p:sp>
        <p:nvSpPr>
          <p:cNvPr id="31" name="Text 29"/>
          <p:cNvSpPr/>
          <p:nvPr/>
        </p:nvSpPr>
        <p:spPr>
          <a:xfrm>
            <a:off x="4581144" y="3703320"/>
            <a:ext cx="31638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iOS + Android buyer apps for review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43984" y="4443984"/>
            <a:ext cx="54864" cy="54864"/>
          </a:xfrm>
          <a:prstGeom prst="rect">
            <a:avLst>
              <a:gd name="adj" fmla="val 16667"/>
            </a:avLst>
          </a:prstGeom>
          <a:solidFill>
            <a:srgbClr val="C9A84C"/>
          </a:solidFill>
          <a:ln/>
        </p:spPr>
      </p:sp>
      <p:sp>
        <p:nvSpPr>
          <p:cNvPr id="33" name="Text 31"/>
          <p:cNvSpPr/>
          <p:nvPr/>
        </p:nvSpPr>
        <p:spPr>
          <a:xfrm>
            <a:off x="4581144" y="4389120"/>
            <a:ext cx="31638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SEO city + model pages indexed by Google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065008" y="1097280"/>
            <a:ext cx="3575304" cy="4114800"/>
          </a:xfrm>
          <a:prstGeom prst="rect">
            <a:avLst>
              <a:gd name="adj" fmla="val 1023"/>
            </a:avLst>
          </a:prstGeom>
          <a:solidFill>
            <a:srgbClr val="13131A"/>
          </a:solidFill>
          <a:ln w="12700">
            <a:solidFill>
              <a:srgbClr val="5AC8F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65008" y="1097280"/>
            <a:ext cx="3575304" cy="411480"/>
          </a:xfrm>
          <a:prstGeom prst="rect">
            <a:avLst>
              <a:gd name="adj" fmla="val 8889"/>
            </a:avLst>
          </a:prstGeom>
          <a:solidFill>
            <a:srgbClr val="5AC8FA"/>
          </a:solidFill>
          <a:ln/>
        </p:spPr>
      </p:sp>
      <p:sp>
        <p:nvSpPr>
          <p:cNvPr id="36" name="Text 34"/>
          <p:cNvSpPr/>
          <p:nvPr/>
        </p:nvSpPr>
        <p:spPr>
          <a:xfrm>
            <a:off x="8065008" y="109728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61–90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202168" y="1700784"/>
            <a:ext cx="54864" cy="54864"/>
          </a:xfrm>
          <a:prstGeom prst="rect">
            <a:avLst>
              <a:gd name="adj" fmla="val 16667"/>
            </a:avLst>
          </a:prstGeom>
          <a:solidFill>
            <a:srgbClr val="5AC8FA"/>
          </a:solidFill>
          <a:ln/>
        </p:spPr>
      </p:sp>
      <p:sp>
        <p:nvSpPr>
          <p:cNvPr id="38" name="Text 36"/>
          <p:cNvSpPr/>
          <p:nvPr/>
        </p:nvSpPr>
        <p:spPr>
          <a:xfrm>
            <a:off x="8339328" y="1645920"/>
            <a:ext cx="31638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 ₹12L MRR run-rate (SaaS recurring)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202168" y="2386584"/>
            <a:ext cx="54864" cy="54864"/>
          </a:xfrm>
          <a:prstGeom prst="rect">
            <a:avLst>
              <a:gd name="adj" fmla="val 16667"/>
            </a:avLst>
          </a:prstGeom>
          <a:solidFill>
            <a:srgbClr val="5AC8FA"/>
          </a:solidFill>
          <a:ln/>
        </p:spPr>
      </p:sp>
      <p:sp>
        <p:nvSpPr>
          <p:cNvPr id="40" name="Text 38"/>
          <p:cNvSpPr/>
          <p:nvPr/>
        </p:nvSpPr>
        <p:spPr>
          <a:xfrm>
            <a:off x="8339328" y="2331720"/>
            <a:ext cx="31638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 VehiclePassport reports sold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202168" y="3072384"/>
            <a:ext cx="54864" cy="54864"/>
          </a:xfrm>
          <a:prstGeom prst="rect">
            <a:avLst>
              <a:gd name="adj" fmla="val 16667"/>
            </a:avLst>
          </a:prstGeom>
          <a:solidFill>
            <a:srgbClr val="5AC8FA"/>
          </a:solidFill>
          <a:ln/>
        </p:spPr>
      </p:sp>
      <p:sp>
        <p:nvSpPr>
          <p:cNvPr id="42" name="Text 40"/>
          <p:cNvSpPr/>
          <p:nvPr/>
        </p:nvSpPr>
        <p:spPr>
          <a:xfrm>
            <a:off x="8339328" y="3017520"/>
            <a:ext cx="31638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investor deck v1 with real cohort data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202168" y="3758184"/>
            <a:ext cx="54864" cy="54864"/>
          </a:xfrm>
          <a:prstGeom prst="rect">
            <a:avLst>
              <a:gd name="adj" fmla="val 16667"/>
            </a:avLst>
          </a:prstGeom>
          <a:solidFill>
            <a:srgbClr val="5AC8FA"/>
          </a:solidFill>
          <a:ln/>
        </p:spPr>
      </p:sp>
      <p:sp>
        <p:nvSpPr>
          <p:cNvPr id="44" name="Text 42"/>
          <p:cNvSpPr/>
          <p:nvPr/>
        </p:nvSpPr>
        <p:spPr>
          <a:xfrm>
            <a:off x="8339328" y="3703320"/>
            <a:ext cx="31638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formation + governance framework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202168" y="4443984"/>
            <a:ext cx="54864" cy="54864"/>
          </a:xfrm>
          <a:prstGeom prst="rect">
            <a:avLst>
              <a:gd name="adj" fmla="val 16667"/>
            </a:avLst>
          </a:prstGeom>
          <a:solidFill>
            <a:srgbClr val="5AC8FA"/>
          </a:solidFill>
          <a:ln/>
        </p:spPr>
      </p:sp>
      <p:sp>
        <p:nvSpPr>
          <p:cNvPr id="46" name="Text 44"/>
          <p:cNvSpPr/>
          <p:nvPr/>
        </p:nvSpPr>
        <p:spPr>
          <a:xfrm>
            <a:off x="8339328" y="4389120"/>
            <a:ext cx="31638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OKR review — cut anything not working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8080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565392"/>
            <a:ext cx="10360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AUTOVINCI  |  BOOTSTRAP FINANCIAL PLAN  |  CONFIDENTIAL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0908792" y="656539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0" y="54864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6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AUTOVINCI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0" y="1371600"/>
            <a:ext cx="121889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built the product.</a:t>
            </a:r>
            <a:endParaRPr lang="en-US" sz="2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know the numbers.</a:t>
            </a:r>
            <a:endParaRPr lang="en-US" sz="2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we execute.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3544824" cy="960120"/>
          </a:xfrm>
          <a:prstGeom prst="rect">
            <a:avLst>
              <a:gd name="adj" fmla="val 3810"/>
            </a:avLst>
          </a:prstGeom>
          <a:solidFill>
            <a:srgbClr val="13131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017520"/>
            <a:ext cx="3544824" cy="274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090672"/>
            <a:ext cx="33619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₹3.4 Cr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3611880"/>
            <a:ext cx="3361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Revenue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22064" y="3017520"/>
            <a:ext cx="3544824" cy="960120"/>
          </a:xfrm>
          <a:prstGeom prst="rect">
            <a:avLst>
              <a:gd name="adj" fmla="val 3810"/>
            </a:avLst>
          </a:prstGeom>
          <a:solidFill>
            <a:srgbClr val="13131A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22064" y="3017520"/>
            <a:ext cx="3544824" cy="27432"/>
          </a:xfrm>
          <a:prstGeom prst="rect">
            <a:avLst/>
          </a:prstGeom>
          <a:solidFill>
            <a:srgbClr val="34C759"/>
          </a:solidFill>
          <a:ln/>
        </p:spPr>
      </p:sp>
      <p:sp>
        <p:nvSpPr>
          <p:cNvPr id="14" name="Text 12"/>
          <p:cNvSpPr/>
          <p:nvPr/>
        </p:nvSpPr>
        <p:spPr>
          <a:xfrm>
            <a:off x="4413504" y="3090672"/>
            <a:ext cx="33619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413504" y="3611880"/>
            <a:ext cx="3361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Cash-flow Positive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095488" y="3017520"/>
            <a:ext cx="3544824" cy="960120"/>
          </a:xfrm>
          <a:prstGeom prst="rect">
            <a:avLst>
              <a:gd name="adj" fmla="val 3810"/>
            </a:avLst>
          </a:prstGeom>
          <a:solidFill>
            <a:srgbClr val="13131A"/>
          </a:solidFill>
          <a:ln w="12700">
            <a:solidFill>
              <a:srgbClr val="5AC8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95488" y="3017520"/>
            <a:ext cx="3544824" cy="27432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18" name="Text 16"/>
          <p:cNvSpPr/>
          <p:nvPr/>
        </p:nvSpPr>
        <p:spPr>
          <a:xfrm>
            <a:off x="8186928" y="3090672"/>
            <a:ext cx="33619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C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30x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186928" y="3611880"/>
            <a:ext cx="3361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 : CAC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3544824" cy="960120"/>
          </a:xfrm>
          <a:prstGeom prst="rect">
            <a:avLst>
              <a:gd name="adj" fmla="val 3810"/>
            </a:avLst>
          </a:prstGeom>
          <a:solidFill>
            <a:srgbClr val="13131A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160520"/>
            <a:ext cx="3544824" cy="27432"/>
          </a:xfrm>
          <a:prstGeom prst="rect">
            <a:avLst/>
          </a:prstGeom>
          <a:solidFill>
            <a:srgbClr val="34C759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233672"/>
            <a:ext cx="33619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₹400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40080" y="4754880"/>
            <a:ext cx="3361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CAC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322064" y="4160520"/>
            <a:ext cx="3544824" cy="960120"/>
          </a:xfrm>
          <a:prstGeom prst="rect">
            <a:avLst>
              <a:gd name="adj" fmla="val 3810"/>
            </a:avLst>
          </a:prstGeom>
          <a:solidFill>
            <a:srgbClr val="13131A"/>
          </a:solidFill>
          <a:ln w="12700">
            <a:solidFill>
              <a:srgbClr val="FF9F0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22064" y="4160520"/>
            <a:ext cx="3544824" cy="27432"/>
          </a:xfrm>
          <a:prstGeom prst="rect">
            <a:avLst/>
          </a:prstGeom>
          <a:solidFill>
            <a:srgbClr val="FF9F0A"/>
          </a:solidFill>
          <a:ln/>
        </p:spPr>
      </p:sp>
      <p:sp>
        <p:nvSpPr>
          <p:cNvPr id="26" name="Text 24"/>
          <p:cNvSpPr/>
          <p:nvPr/>
        </p:nvSpPr>
        <p:spPr>
          <a:xfrm>
            <a:off x="4413504" y="4233672"/>
            <a:ext cx="33619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F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413504" y="4754880"/>
            <a:ext cx="3361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Gross Margin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095488" y="4160520"/>
            <a:ext cx="3544824" cy="960120"/>
          </a:xfrm>
          <a:prstGeom prst="rect">
            <a:avLst>
              <a:gd name="adj" fmla="val 3810"/>
            </a:avLst>
          </a:prstGeom>
          <a:solidFill>
            <a:srgbClr val="13131A"/>
          </a:solidFill>
          <a:ln w="12700">
            <a:solidFill>
              <a:srgbClr val="F0ED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95488" y="4160520"/>
            <a:ext cx="3544824" cy="27432"/>
          </a:xfrm>
          <a:prstGeom prst="rect">
            <a:avLst/>
          </a:prstGeom>
          <a:solidFill>
            <a:srgbClr val="F0EDE5"/>
          </a:solidFill>
          <a:ln/>
        </p:spPr>
      </p:sp>
      <p:sp>
        <p:nvSpPr>
          <p:cNvPr id="30" name="Text 28"/>
          <p:cNvSpPr/>
          <p:nvPr/>
        </p:nvSpPr>
        <p:spPr>
          <a:xfrm>
            <a:off x="8186928" y="4233672"/>
            <a:ext cx="33619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186928" y="4754880"/>
            <a:ext cx="3361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Paying Dealers Y1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" y="530352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Self-funded. Product-led. Capital-efficient. India’s first AI-native used car platform.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Autovinci Bootstrap Financial Plan</dc:title>
  <dc:subject>PptxGenJS Presentation</dc:subject>
  <dc:creator>Autovinci</dc:creator>
  <cp:lastModifiedBy>Autovinci</cp:lastModifiedBy>
  <cp:revision>1</cp:revision>
  <dcterms:created xsi:type="dcterms:W3CDTF">2026-02-28T13:24:49Z</dcterms:created>
  <dcterms:modified xsi:type="dcterms:W3CDTF">2026-02-28T13:24:49Z</dcterms:modified>
</cp:coreProperties>
</file>